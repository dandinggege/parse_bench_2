
<file path=[Content_Types].xml><?xml version="1.0" encoding="utf-8"?>
<Types xmlns="http://schemas.openxmlformats.org/package/2006/content-types">
  <Default Extension="xml" ContentType="application/xml"/>
  <Default Extension="wmf" ContentType="image/x-wmf"/>
  <Default Extension="jpeg" ContentType="image/jpeg"/>
  <Default Extension="jpg" ContentType="image/jpeg"/>
  <Default Extension="rels" ContentType="application/vnd.openxmlformats-package.relationships+xml"/>
  <Default Extension="vml" ContentType="application/vnd.openxmlformats-officedocument.vmlDrawing"/>
  <Default Extension="bin" ContentType="application/vnd.openxmlformats-officedocument.presentationml.printerSettings"/>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slideLayouts/slideLayout2.xml" ContentType="application/vnd.openxmlformats-officedocument.presentationml.slideLayout+xml"/>
  <Override PartName="/ppt/theme/theme2.xml" ContentType="application/vnd.openxmlformats-officedocument.theme+xml"/>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slideLayouts/slideLayout3.xml" ContentType="application/vnd.openxmlformats-officedocument.presentationml.slideLayout+xml"/>
  <Override PartName="/ppt/theme/theme3.xml" ContentType="application/vnd.openxmlformats-officedocument.theme+xml"/>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701" autoAdjust="0"/>
  </p:normalViewPr>
  <p:slideViewPr>
    <p:cSldViewPr snapToGrid="0" snapToObjects="1" showGuides="1">
      <p:cViewPr>
        <p:scale>
          <a:sx n="28" d="100"/>
          <a:sy n="28" d="100"/>
        </p:scale>
        <p:origin x="-1008" y="248"/>
      </p:cViewPr>
      <p:guideLst>
        <p:guide orient="horz" pos="3298"/>
        <p:guide orient="horz" pos="20735"/>
        <p:guide orient="horz"/>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 Type="http://schemas.openxmlformats.org/officeDocument/2006/relationships/theme" Target="theme/theme1.xml"/><Relationship Id="rId12"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interSettings" Target="printerSettings/printerSettings1.bin"/><Relationship Id="rId8" Type="http://schemas.openxmlformats.org/officeDocument/2006/relationships/commentAuthors" Target="commentAuthors.xml"/><Relationship Id="rId9" Type="http://schemas.openxmlformats.org/officeDocument/2006/relationships/presProps" Target="presProps.xml"/><Relationship Id="rId1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4" Type="http://schemas.openxmlformats.org/officeDocument/2006/relationships/image" Target="../media/image4.wmf"/><Relationship Id="rId1" Type="http://schemas.openxmlformats.org/officeDocument/2006/relationships/image" Target="../media/image1.wmf"/><Relationship Id="rId2"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wmf"/><Relationship Id="rId4" Type="http://schemas.openxmlformats.org/officeDocument/2006/relationships/image" Target="../media/image2.wmf"/><Relationship Id="rId1" Type="http://schemas.openxmlformats.org/officeDocument/2006/relationships/image" Target="../media/image3.wmf"/><Relationship Id="rId2"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wmf"/><Relationship Id="rId4" Type="http://schemas.openxmlformats.org/officeDocument/2006/relationships/image" Target="../media/image2.wmf"/><Relationship Id="rId1" Type="http://schemas.openxmlformats.org/officeDocument/2006/relationships/image" Target="../media/image3.wmf"/><Relationship Id="rId2"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7/11/18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7/11/18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edit) INTRODUCTION or ABSTRACT</a:t>
            </a:r>
            <a:endParaRPr lang="en-US" dirty="0"/>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edit)  OBJECTIVES</a:t>
            </a:r>
            <a:endParaRPr lang="en-US" dirty="0"/>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edit)  MATERIALS &amp; METHODS</a:t>
            </a:r>
            <a:endParaRPr lang="en-US" dirty="0"/>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edit)  RESULTS</a:t>
            </a:r>
            <a:endParaRPr lang="en-US" dirty="0"/>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edit)  CONCLUSIONS</a:t>
            </a:r>
            <a:endParaRPr lang="en-US" dirty="0"/>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edit)  REFERENCES</a:t>
            </a:r>
            <a:endParaRPr lang="en-US" dirty="0"/>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edit)  ACKNOWLEDGEMENTS or  CONTACT</a:t>
            </a:r>
            <a:endParaRPr lang="en-US" dirty="0"/>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smtClean="0"/>
              <a:t>Click here to add affiliations</a:t>
            </a:r>
            <a:endParaRPr lang="en-US" dirty="0"/>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smtClean="0"/>
              <a:t>Click here to add authors</a:t>
            </a:r>
            <a:endParaRPr lang="en-US" dirty="0"/>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smtClean="0"/>
              <a:t>Click here to add title</a:t>
            </a:r>
            <a:endParaRPr lang="en-US" dirty="0"/>
          </a:p>
        </p:txBody>
      </p:sp>
    </p:spTree>
  </p:cSld>
  <p:clrMapOvr>
    <a:masterClrMapping/>
  </p:clrMapOvr>
  <p:timing>
    <p:tnLst>
      <p:par>
        <p:cTn xmlns:p14="http://schemas.microsoft.com/office/powerpoint/2010/mai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INTRODUCTION or ABSTRACT</a:t>
            </a:r>
            <a:endParaRPr lang="en-US" dirty="0"/>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OBJECTIVES</a:t>
            </a:r>
            <a:endParaRPr lang="en-US" dirty="0"/>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MATERIALS &amp; METHODS</a:t>
            </a:r>
            <a:endParaRPr lang="en-US" dirty="0"/>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RESULTS</a:t>
            </a:r>
            <a:endParaRPr lang="en-US" dirty="0"/>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CONCLUSIONS</a:t>
            </a:r>
            <a:endParaRPr lang="en-US" dirty="0"/>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smtClean="0"/>
              <a:t>(click to add)  REFERENCES</a:t>
            </a:r>
            <a:endParaRPr lang="en-US" dirty="0"/>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ACKNOWLEDGEMENTS  or  CONTACT</a:t>
            </a:r>
            <a:endParaRPr lang="en-US" dirty="0"/>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Type in or paste your text here</a:t>
            </a:r>
            <a:endParaRPr lang="en-US" dirty="0"/>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smtClean="0"/>
              <a:t>Click here to add affiliations</a:t>
            </a:r>
            <a:endParaRPr lang="en-US" dirty="0"/>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smtClean="0"/>
              <a:t>Click here to add authors</a:t>
            </a:r>
            <a:endParaRPr lang="en-US" dirty="0"/>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smtClean="0"/>
              <a:t>Click here to add title</a:t>
            </a:r>
            <a:endParaRPr lang="en-US" dirty="0"/>
          </a:p>
        </p:txBody>
      </p:sp>
    </p:spTree>
  </p:cSld>
  <p:clrMapOvr>
    <a:masterClrMapping/>
  </p:clrMapOvr>
  <p:timing>
    <p:tnLst>
      <p:par>
        <p:cTn xmlns:p14="http://schemas.microsoft.com/office/powerpoint/2010/mai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Enter your text here</a:t>
            </a:r>
            <a:endParaRPr lang="en-US" dirty="0"/>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INTRODUCTION or ABSTRACT</a:t>
            </a:r>
            <a:endParaRPr lang="en-US" dirty="0"/>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Enter your text here</a:t>
            </a:r>
            <a:endParaRPr lang="en-US" dirty="0"/>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OBJECTIVES</a:t>
            </a:r>
            <a:endParaRPr lang="en-US" dirty="0"/>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Enter your text here</a:t>
            </a:r>
            <a:endParaRPr lang="en-US" dirty="0"/>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(header)  MATERIALS &amp; METHODS</a:t>
            </a:r>
            <a:endParaRPr lang="en-US" dirty="0"/>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Enter your text here</a:t>
            </a:r>
            <a:endParaRPr lang="en-US" dirty="0"/>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RESULTS</a:t>
            </a:r>
            <a:endParaRPr lang="en-US" dirty="0"/>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CONCLUSIONS</a:t>
            </a:r>
            <a:endParaRPr lang="en-US" dirty="0"/>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Enter your text here</a:t>
            </a:r>
            <a:endParaRPr lang="en-US" dirty="0"/>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REFERENCES</a:t>
            </a:r>
            <a:endParaRPr lang="en-US" dirty="0"/>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Enter your text here</a:t>
            </a:r>
            <a:endParaRPr lang="en-US" dirty="0"/>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smtClean="0"/>
              <a:t>(click to add)  ACKNOWLEDGEMENTS or CONTACT</a:t>
            </a:r>
            <a:endParaRPr lang="en-US" dirty="0"/>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smtClean="0"/>
              <a:t>Enter your text here</a:t>
            </a:r>
            <a:endParaRPr lang="en-US" dirty="0"/>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smtClean="0"/>
              <a:t>Click here to add affiliations</a:t>
            </a:r>
            <a:endParaRPr lang="en-US" dirty="0"/>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smtClean="0"/>
              <a:t>Click here to add authors</a:t>
            </a:r>
            <a:endParaRPr lang="en-US" dirty="0"/>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smtClean="0"/>
              <a:t>Click here to add title</a:t>
            </a:r>
            <a:endParaRPr lang="en-US" dirty="0"/>
          </a:p>
        </p:txBody>
      </p:sp>
    </p:spTree>
  </p:cSld>
  <p:clrMapOvr>
    <a:masterClrMapping/>
  </p:clrMapOvr>
  <p:timing>
    <p:tnLst>
      <p:par>
        <p:cTn xmlns:p14="http://schemas.microsoft.com/office/powerpoint/2010/main" id="1" dur="indefinite" restart="never" nodeType="tmRoot"/>
      </p:par>
    </p:tnLst>
  </p:timing>
</p:sldLayout>
</file>

<file path=ppt/slideMasters/_rels/slideMaster1.xml.rels><?xml version="1.0" encoding="UTF-8" standalone="yes"?>
<Relationships xmlns="http://schemas.openxmlformats.org/package/2006/relationships"><Relationship Id="rId11" Type="http://schemas.openxmlformats.org/officeDocument/2006/relationships/image" Target="../media/image2.wmf"/><Relationship Id="rId12" Type="http://schemas.openxmlformats.org/officeDocument/2006/relationships/oleObject" Target="../embeddings/oleObject3.bin"/><Relationship Id="rId13" Type="http://schemas.openxmlformats.org/officeDocument/2006/relationships/image" Target="../media/image3.wmf"/><Relationship Id="rId14" Type="http://schemas.openxmlformats.org/officeDocument/2006/relationships/image" Target="../media/image9.png"/><Relationship Id="rId15" Type="http://schemas.openxmlformats.org/officeDocument/2006/relationships/oleObject" Target="../embeddings/oleObject4.bin"/><Relationship Id="rId16" Type="http://schemas.openxmlformats.org/officeDocument/2006/relationships/image" Target="../media/image4.wmf"/><Relationship Id="rId17" Type="http://schemas.openxmlformats.org/officeDocument/2006/relationships/hyperlink" Target="http://www.facebook.com/pages/PosterPresentationscom/217914411419?v=app_4949752878&amp;ref=ts" TargetMode="External"/><Relationship Id="rId18" Type="http://schemas.openxmlformats.org/officeDocument/2006/relationships/image" Target="../media/image10.jpeg"/><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vmlDrawing" Target="../drawings/vmlDrawing1.v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oleObject" Target="../embeddings/oleObject1.bin"/><Relationship Id="rId9" Type="http://schemas.openxmlformats.org/officeDocument/2006/relationships/image" Target="../media/image1.wmf"/><Relationship Id="rId10" Type="http://schemas.openxmlformats.org/officeDocument/2006/relationships/oleObject" Target="../embeddings/oleObject2.bin"/></Relationships>
</file>

<file path=ppt/slideMasters/_rels/slideMaster2.xml.rels><?xml version="1.0" encoding="UTF-8" standalone="yes"?>
<Relationships xmlns="http://schemas.openxmlformats.org/package/2006/relationships"><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image" Target="../media/image8.png"/><Relationship Id="rId15" Type="http://schemas.openxmlformats.org/officeDocument/2006/relationships/oleObject" Target="../embeddings/oleObject7.bin"/><Relationship Id="rId16" Type="http://schemas.openxmlformats.org/officeDocument/2006/relationships/image" Target="../media/image1.wmf"/><Relationship Id="rId17" Type="http://schemas.openxmlformats.org/officeDocument/2006/relationships/oleObject" Target="../embeddings/oleObject8.bin"/><Relationship Id="rId18" Type="http://schemas.openxmlformats.org/officeDocument/2006/relationships/image" Target="../media/image2.wmf"/><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vmlDrawing" Target="../drawings/vmlDrawing2.vml"/><Relationship Id="rId4" Type="http://schemas.openxmlformats.org/officeDocument/2006/relationships/oleObject" Target="../embeddings/oleObject5.bin"/><Relationship Id="rId5" Type="http://schemas.openxmlformats.org/officeDocument/2006/relationships/image" Target="../media/image3.wmf"/><Relationship Id="rId6" Type="http://schemas.openxmlformats.org/officeDocument/2006/relationships/image" Target="../media/image9.png"/><Relationship Id="rId7" Type="http://schemas.openxmlformats.org/officeDocument/2006/relationships/oleObject" Target="../embeddings/oleObject6.bin"/><Relationship Id="rId8" Type="http://schemas.openxmlformats.org/officeDocument/2006/relationships/image" Target="../media/image4.wmf"/><Relationship Id="rId9" Type="http://schemas.openxmlformats.org/officeDocument/2006/relationships/hyperlink" Target="http://www.facebook.com/pages/PosterPresentationscom/217914411419?v=app_4949752878&amp;ref=ts" TargetMode="External"/><Relationship Id="rId10" Type="http://schemas.openxmlformats.org/officeDocument/2006/relationships/image" Target="../media/image10.jpeg"/></Relationships>
</file>

<file path=ppt/slideMasters/_rels/slideMaster3.xml.rels><?xml version="1.0" encoding="UTF-8" standalone="yes"?>
<Relationships xmlns="http://schemas.openxmlformats.org/package/2006/relationships"><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image" Target="../media/image8.png"/><Relationship Id="rId15" Type="http://schemas.openxmlformats.org/officeDocument/2006/relationships/oleObject" Target="../embeddings/oleObject11.bin"/><Relationship Id="rId16" Type="http://schemas.openxmlformats.org/officeDocument/2006/relationships/image" Target="../media/image1.wmf"/><Relationship Id="rId17" Type="http://schemas.openxmlformats.org/officeDocument/2006/relationships/oleObject" Target="../embeddings/oleObject12.bin"/><Relationship Id="rId18" Type="http://schemas.openxmlformats.org/officeDocument/2006/relationships/image" Target="../media/image2.wmf"/><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vmlDrawing" Target="../drawings/vmlDrawing3.vml"/><Relationship Id="rId4" Type="http://schemas.openxmlformats.org/officeDocument/2006/relationships/oleObject" Target="../embeddings/oleObject9.bin"/><Relationship Id="rId5" Type="http://schemas.openxmlformats.org/officeDocument/2006/relationships/image" Target="../media/image3.wmf"/><Relationship Id="rId6" Type="http://schemas.openxmlformats.org/officeDocument/2006/relationships/image" Target="../media/image9.png"/><Relationship Id="rId7" Type="http://schemas.openxmlformats.org/officeDocument/2006/relationships/oleObject" Target="../embeddings/oleObject10.bin"/><Relationship Id="rId8" Type="http://schemas.openxmlformats.org/officeDocument/2006/relationships/image" Target="../media/image4.wmf"/><Relationship Id="rId9" Type="http://schemas.openxmlformats.org/officeDocument/2006/relationships/hyperlink" Target="http://www.facebook.com/pages/PosterPresentationscom/217914411419?v=app_4949752878&amp;ref=ts" TargetMode="External"/><Relationship Id="rId10" Type="http://schemas.openxmlformats.org/officeDocument/2006/relationships/image" Target="../media/image10.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10" name="Text Box 14"/>
          <p:cNvSpPr txBox="1">
            <a:spLocks noChangeArrowheads="1"/>
          </p:cNvSpPr>
          <p:nvPr/>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smtClean="0">
                <a:solidFill>
                  <a:schemeClr val="bg1">
                    <a:lumMod val="75000"/>
                  </a:schemeClr>
                </a:solidFill>
                <a:latin typeface="Arial" charset="0"/>
              </a:rPr>
              <a:t>RESEARCH POSTER PRESENTATION </a:t>
            </a:r>
            <a:r>
              <a:rPr lang="en-US" sz="500" b="1" dirty="0">
                <a:solidFill>
                  <a:schemeClr val="bg1">
                    <a:lumMod val="75000"/>
                  </a:schemeClr>
                </a:solidFill>
                <a:latin typeface="Arial" charset="0"/>
              </a:rPr>
              <a:t>DESIGN © </a:t>
            </a:r>
            <a:r>
              <a:rPr lang="en-US" sz="500" b="1" dirty="0" smtClean="0">
                <a:solidFill>
                  <a:schemeClr val="bg1">
                    <a:lumMod val="75000"/>
                  </a:schemeClr>
                </a:solidFill>
                <a:latin typeface="Arial" charset="0"/>
              </a:rPr>
              <a:t>2015</a:t>
            </a:r>
            <a:endParaRPr lang="en-US" sz="500" b="1" dirty="0">
              <a:solidFill>
                <a:schemeClr val="bg1">
                  <a:lumMod val="75000"/>
                </a:schemeClr>
              </a:solidFill>
              <a:latin typeface="Arial" charset="0"/>
            </a:endParaRP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smtClean="0">
                  <a:solidFill>
                    <a:srgbClr val="FF0000"/>
                  </a:solidFill>
                  <a:latin typeface="Trebuchet MS" pitchFamily="34" charset="0"/>
                </a:rPr>
                <a:t>(—THIS SIDEBAR DOES NOT PRINT—)</a:t>
              </a:r>
              <a:endParaRPr lang="en-US" sz="3200" b="1" spc="600" dirty="0" smtClean="0">
                <a:solidFill>
                  <a:schemeClr val="bg1"/>
                </a:solidFill>
                <a:latin typeface="Trebuchet MS" pitchFamily="34" charset="0"/>
              </a:endParaRPr>
            </a:p>
            <a:p>
              <a:pPr algn="ctr"/>
              <a:r>
                <a:rPr lang="en-US" sz="4000" b="1" spc="600" dirty="0" smtClean="0">
                  <a:solidFill>
                    <a:schemeClr val="bg1"/>
                  </a:solidFill>
                  <a:latin typeface="Trebuchet MS" pitchFamily="34" charset="0"/>
                </a:rPr>
                <a:t>DESIGN</a:t>
              </a:r>
              <a:r>
                <a:rPr lang="en-US" sz="4000" b="1" spc="600" baseline="0" dirty="0" smtClean="0">
                  <a:solidFill>
                    <a:schemeClr val="bg1"/>
                  </a:solidFill>
                  <a:latin typeface="Trebuchet MS" pitchFamily="34" charset="0"/>
                </a:rPr>
                <a:t> </a:t>
              </a:r>
              <a:r>
                <a:rPr lang="en-US" sz="4000" b="1" spc="600" dirty="0" smtClean="0">
                  <a:solidFill>
                    <a:schemeClr val="bg1"/>
                  </a:solidFill>
                  <a:latin typeface="Trebuchet MS" pitchFamily="34" charset="0"/>
                </a:rPr>
                <a:t>GUIDE</a:t>
              </a:r>
            </a:p>
            <a:p>
              <a:pPr algn="ctr"/>
              <a:endParaRPr lang="en-US" sz="2800" b="1" dirty="0" smtClean="0">
                <a:latin typeface="Trebuchet MS" pitchFamily="34" charset="0"/>
              </a:endParaRPr>
            </a:p>
            <a:p>
              <a:pPr defTabSz="3765639"/>
              <a:r>
                <a:rPr lang="en-US" sz="2800" i="0" dirty="0" smtClean="0">
                  <a:latin typeface="Trebuchet MS" pitchFamily="34" charset="0"/>
                </a:rPr>
                <a:t>This PowerPoint</a:t>
              </a:r>
              <a:r>
                <a:rPr lang="en-US" sz="2800" i="0" baseline="0" dirty="0" smtClean="0">
                  <a:latin typeface="Trebuchet MS" pitchFamily="34" charset="0"/>
                </a:rPr>
                <a:t> </a:t>
              </a:r>
              <a:r>
                <a:rPr lang="en-US" sz="2800" i="0" dirty="0" smtClean="0">
                  <a:latin typeface="Trebuchet MS" pitchFamily="34" charset="0"/>
                </a:rPr>
                <a:t>2007 template produces</a:t>
              </a:r>
              <a:r>
                <a:rPr lang="en-US" sz="2800" i="0" baseline="0" dirty="0" smtClean="0">
                  <a:latin typeface="Trebuchet MS" pitchFamily="34" charset="0"/>
                </a:rPr>
                <a:t> </a:t>
              </a:r>
              <a:r>
                <a:rPr lang="en-US" sz="2800" i="0" dirty="0" smtClean="0">
                  <a:latin typeface="Trebuchet MS" pitchFamily="34" charset="0"/>
                </a:rPr>
                <a:t>a 36”x48” presentation poster. </a:t>
              </a:r>
              <a:r>
                <a:rPr lang="en-US" sz="2800" dirty="0" smtClean="0">
                  <a:latin typeface="Trebuchet MS" pitchFamily="34" charset="0"/>
                </a:rPr>
                <a:t>You</a:t>
              </a:r>
              <a:r>
                <a:rPr lang="en-US" sz="2800" baseline="0" dirty="0" smtClean="0">
                  <a:latin typeface="Trebuchet MS" pitchFamily="34" charset="0"/>
                </a:rPr>
                <a:t> can u</a:t>
              </a:r>
              <a:r>
                <a:rPr lang="en-US" sz="2800" dirty="0" smtClean="0">
                  <a:latin typeface="Trebuchet MS" pitchFamily="34" charset="0"/>
                </a:rPr>
                <a:t>se</a:t>
              </a:r>
              <a:r>
                <a:rPr lang="en-US" sz="2800" baseline="0" dirty="0" smtClean="0">
                  <a:latin typeface="Trebuchet MS" pitchFamily="34" charset="0"/>
                </a:rPr>
                <a:t> it to create your research poster and </a:t>
              </a:r>
              <a:r>
                <a:rPr lang="en-US" sz="2800" dirty="0" smtClean="0">
                  <a:latin typeface="Trebuchet MS" pitchFamily="34" charset="0"/>
                </a:rPr>
                <a:t>save valuable time placing titles, subtitles,</a:t>
              </a:r>
              <a:r>
                <a:rPr lang="en-US" sz="2800" baseline="0" dirty="0" smtClean="0">
                  <a:latin typeface="Trebuchet MS" pitchFamily="34" charset="0"/>
                </a:rPr>
                <a:t> text, and graphics</a:t>
              </a:r>
              <a:r>
                <a:rPr lang="en-US" sz="2800" dirty="0" smtClean="0">
                  <a:latin typeface="Trebuchet MS" pitchFamily="34" charset="0"/>
                </a:rPr>
                <a:t>. </a:t>
              </a:r>
            </a:p>
            <a:p>
              <a:pPr defTabSz="3765639"/>
              <a:endParaRPr lang="en-US" sz="2800" dirty="0" smtClean="0">
                <a:latin typeface="Trebuchet MS" pitchFamily="34" charset="0"/>
              </a:endParaRPr>
            </a:p>
            <a:p>
              <a:pPr defTabSz="4389219"/>
              <a:r>
                <a:rPr lang="en-US" sz="2800" dirty="0" smtClean="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smtClean="0">
                  <a:solidFill>
                    <a:srgbClr val="FFC000"/>
                  </a:solidFill>
                  <a:latin typeface="Trebuchet MS" pitchFamily="34" charset="0"/>
                </a:rPr>
                <a:t>PosterPresentations.com</a:t>
              </a:r>
              <a:r>
                <a:rPr lang="en-US" sz="2800" b="1" dirty="0" smtClean="0">
                  <a:solidFill>
                    <a:schemeClr val="bg1"/>
                  </a:solidFill>
                  <a:latin typeface="Trebuchet MS" pitchFamily="34" charset="0"/>
                </a:rPr>
                <a:t> </a:t>
              </a:r>
              <a:r>
                <a:rPr lang="en-US" sz="2800" dirty="0" smtClean="0">
                  <a:solidFill>
                    <a:schemeClr val="bg1"/>
                  </a:solidFill>
                  <a:latin typeface="Trebuchet MS" pitchFamily="34" charset="0"/>
                </a:rPr>
                <a:t>and click on HELP DESK.</a:t>
              </a:r>
            </a:p>
            <a:p>
              <a:pPr defTabSz="4389219"/>
              <a:endParaRPr lang="en-US" sz="2800" dirty="0" smtClean="0">
                <a:latin typeface="Trebuchet MS" pitchFamily="34" charset="0"/>
              </a:endParaRPr>
            </a:p>
            <a:p>
              <a:pPr defTabSz="4389219"/>
              <a:r>
                <a:rPr lang="en-US" sz="2800" dirty="0" smtClean="0">
                  <a:solidFill>
                    <a:schemeClr val="bg1"/>
                  </a:solidFill>
                  <a:latin typeface="Trebuchet MS" pitchFamily="34" charset="0"/>
                </a:rPr>
                <a:t>When</a:t>
              </a:r>
              <a:r>
                <a:rPr lang="en-US" sz="2800" baseline="0" dirty="0" smtClean="0">
                  <a:solidFill>
                    <a:schemeClr val="bg1"/>
                  </a:solidFill>
                  <a:latin typeface="Trebuchet MS" pitchFamily="34" charset="0"/>
                </a:rPr>
                <a:t> you are ready to print your poster</a:t>
              </a:r>
              <a:r>
                <a:rPr lang="en-US" sz="2800" dirty="0" smtClean="0">
                  <a:solidFill>
                    <a:schemeClr val="bg1"/>
                  </a:solidFill>
                  <a:latin typeface="Trebuchet MS" pitchFamily="34" charset="0"/>
                </a:rPr>
                <a:t>,</a:t>
              </a:r>
              <a:r>
                <a:rPr lang="en-US" sz="2800" baseline="0" dirty="0" smtClean="0">
                  <a:solidFill>
                    <a:schemeClr val="bg1"/>
                  </a:solidFill>
                  <a:latin typeface="Trebuchet MS" pitchFamily="34" charset="0"/>
                </a:rPr>
                <a:t> go online to </a:t>
              </a:r>
              <a:r>
                <a:rPr lang="en-US" sz="2800" b="0" dirty="0" smtClean="0">
                  <a:solidFill>
                    <a:schemeClr val="bg1"/>
                  </a:solidFill>
                  <a:latin typeface="Trebuchet MS" pitchFamily="34" charset="0"/>
                </a:rPr>
                <a:t>PosterPresentations.com</a:t>
              </a:r>
              <a:r>
                <a:rPr lang="en-US" sz="2800" dirty="0" smtClean="0">
                  <a:solidFill>
                    <a:schemeClr val="bg1"/>
                  </a:solidFill>
                  <a:latin typeface="Trebuchet MS" pitchFamily="34" charset="0"/>
                </a:rPr>
                <a:t/>
              </a:r>
              <a:br>
                <a:rPr lang="en-US" sz="2800" dirty="0" smtClean="0">
                  <a:solidFill>
                    <a:schemeClr val="bg1"/>
                  </a:solidFill>
                  <a:latin typeface="Trebuchet MS" pitchFamily="34" charset="0"/>
                </a:rPr>
              </a:br>
              <a:endParaRPr lang="en-US" sz="2800" dirty="0" smtClean="0">
                <a:solidFill>
                  <a:schemeClr val="bg1"/>
                </a:solidFill>
                <a:latin typeface="Trebuchet MS" pitchFamily="34" charset="0"/>
              </a:endParaRPr>
            </a:p>
            <a:p>
              <a:pPr algn="l" defTabSz="3765639"/>
              <a:r>
                <a:rPr lang="en-US" sz="2800" b="0" dirty="0" smtClean="0">
                  <a:solidFill>
                    <a:schemeClr val="bg1"/>
                  </a:solidFill>
                  <a:latin typeface="Trebuchet MS" pitchFamily="34" charset="0"/>
                </a:rPr>
                <a:t>Need</a:t>
              </a:r>
              <a:r>
                <a:rPr lang="en-US" sz="2800" b="0" baseline="0" dirty="0" smtClean="0">
                  <a:solidFill>
                    <a:schemeClr val="bg1"/>
                  </a:solidFill>
                  <a:latin typeface="Trebuchet MS" pitchFamily="34" charset="0"/>
                </a:rPr>
                <a:t> assistance? Call us at </a:t>
              </a:r>
              <a:r>
                <a:rPr lang="en-US" sz="2800" b="0" dirty="0" smtClean="0">
                  <a:solidFill>
                    <a:srgbClr val="FFC000"/>
                  </a:solidFill>
                  <a:latin typeface="Trebuchet MS" pitchFamily="34" charset="0"/>
                </a:rPr>
                <a:t>1.510.649.3001</a:t>
              </a:r>
            </a:p>
            <a:p>
              <a:pPr algn="l" defTabSz="3765639"/>
              <a:endParaRPr lang="en-US" sz="3600" b="1" dirty="0" smtClean="0">
                <a:solidFill>
                  <a:srgbClr val="FFFF00"/>
                </a:solidFill>
                <a:latin typeface="Trebuchet MS" pitchFamily="34" charset="0"/>
              </a:endParaRPr>
            </a:p>
            <a:p>
              <a:pPr algn="ctr"/>
              <a:endParaRPr lang="en-US" sz="2400" b="1" dirty="0" smtClean="0">
                <a:solidFill>
                  <a:schemeClr val="bg1"/>
                </a:solidFill>
                <a:latin typeface="Trebuchet MS" pitchFamily="34" charset="0"/>
              </a:endParaRPr>
            </a:p>
            <a:p>
              <a:pPr algn="ctr"/>
              <a:r>
                <a:rPr lang="en-US" sz="4000" b="1" spc="600" dirty="0" smtClean="0">
                  <a:solidFill>
                    <a:schemeClr val="bg1"/>
                  </a:solidFill>
                  <a:latin typeface="Trebuchet MS" pitchFamily="34" charset="0"/>
                </a:rPr>
                <a:t>QUICK START</a:t>
              </a:r>
            </a:p>
            <a:p>
              <a:pPr algn="ctr"/>
              <a:endParaRPr lang="en-US" sz="3200" b="1" baseline="0" dirty="0" smtClean="0">
                <a:solidFill>
                  <a:schemeClr val="bg1"/>
                </a:solidFill>
                <a:latin typeface="Trebuchet MS" pitchFamily="34" charset="0"/>
              </a:endParaRPr>
            </a:p>
            <a:p>
              <a:pPr algn="ctr"/>
              <a:r>
                <a:rPr lang="en-US" sz="3200" b="1" baseline="0" dirty="0" smtClean="0">
                  <a:solidFill>
                    <a:srgbClr val="FFC000"/>
                  </a:solidFill>
                  <a:latin typeface="Trebuchet MS" pitchFamily="34" charset="0"/>
                </a:rPr>
                <a:t>Zoom in and out</a:t>
              </a:r>
            </a:p>
            <a:p>
              <a:pPr marL="1892300" indent="-1892300" algn="l" defTabSz="850900"/>
              <a:r>
                <a:rPr lang="en-US" sz="2400" b="0" baseline="0" dirty="0" smtClean="0">
                  <a:solidFill>
                    <a:schemeClr val="bg1"/>
                  </a:solidFill>
                  <a:latin typeface="Trebuchet MS" pitchFamily="34" charset="0"/>
                </a:rPr>
                <a:t>	</a:t>
              </a:r>
              <a:r>
                <a:rPr lang="en-US" sz="2400" b="0" baseline="0" dirty="0" smtClean="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smtClean="0">
                  <a:solidFill>
                    <a:schemeClr val="bg1">
                      <a:lumMod val="75000"/>
                    </a:schemeClr>
                  </a:solidFill>
                  <a:latin typeface="Trebuchet MS" pitchFamily="34" charset="0"/>
                </a:rPr>
                <a:t>	</a:t>
              </a:r>
              <a:r>
                <a:rPr lang="en-US" sz="2400" b="0" baseline="0" dirty="0" smtClean="0">
                  <a:solidFill>
                    <a:schemeClr val="bg1">
                      <a:lumMod val="75000"/>
                    </a:schemeClr>
                  </a:solidFill>
                  <a:latin typeface="Trebuchet MS" pitchFamily="34" charset="0"/>
                </a:rPr>
                <a:t>Go to VIEW &gt; ZOOM.</a:t>
              </a:r>
            </a:p>
            <a:p>
              <a:pPr algn="l"/>
              <a:endParaRPr lang="en-US" sz="2800" b="0" baseline="0" dirty="0" smtClean="0">
                <a:solidFill>
                  <a:schemeClr val="bg1"/>
                </a:solidFill>
                <a:latin typeface="Trebuchet MS" pitchFamily="34" charset="0"/>
              </a:endParaRPr>
            </a:p>
            <a:p>
              <a:pPr algn="ctr"/>
              <a:r>
                <a:rPr lang="en-US" sz="3200" b="1" baseline="0" dirty="0" smtClean="0">
                  <a:solidFill>
                    <a:srgbClr val="FFC000"/>
                  </a:solidFill>
                  <a:latin typeface="Trebuchet MS" pitchFamily="34" charset="0"/>
                </a:rPr>
                <a:t>Title, Authors, and Affiliations</a:t>
              </a:r>
            </a:p>
            <a:p>
              <a:pPr algn="l"/>
              <a:r>
                <a:rPr lang="en-US" sz="2400" b="0" baseline="0" dirty="0" smtClean="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smtClean="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smtClean="0">
                <a:solidFill>
                  <a:schemeClr val="bg1">
                    <a:lumMod val="75000"/>
                  </a:schemeClr>
                </a:solidFill>
                <a:latin typeface="Trebuchet MS" pitchFamily="34" charset="0"/>
              </a:endParaRPr>
            </a:p>
            <a:p>
              <a:pPr algn="l"/>
              <a:r>
                <a:rPr lang="en-US" sz="2400" b="1" spc="300" baseline="0" dirty="0" smtClean="0">
                  <a:solidFill>
                    <a:srgbClr val="FFC000"/>
                  </a:solidFill>
                  <a:latin typeface="Trebuchet MS" pitchFamily="34" charset="0"/>
                </a:rPr>
                <a:t>TIP</a:t>
              </a:r>
              <a:r>
                <a:rPr lang="en-US" sz="2400" b="1" baseline="0" dirty="0" smtClean="0">
                  <a:solidFill>
                    <a:srgbClr val="FFC000"/>
                  </a:solidFill>
                  <a:latin typeface="Trebuchet MS" pitchFamily="34" charset="0"/>
                </a:rPr>
                <a:t>: </a:t>
              </a:r>
              <a:r>
                <a:rPr lang="en-US" sz="2400" b="0" baseline="0" dirty="0" smtClean="0">
                  <a:solidFill>
                    <a:schemeClr val="bg1">
                      <a:lumMod val="75000"/>
                    </a:schemeClr>
                  </a:solidFill>
                  <a:latin typeface="Trebuchet MS" pitchFamily="34" charset="0"/>
                </a:rPr>
                <a:t>The font size of your title should be bigger than your name(s) and institution name(s).</a:t>
              </a:r>
            </a:p>
            <a:p>
              <a:pPr algn="l"/>
              <a:r>
                <a:rPr lang="en-US" sz="2800" b="1" baseline="0" dirty="0" smtClean="0">
                  <a:solidFill>
                    <a:schemeClr val="bg1"/>
                  </a:solidFill>
                  <a:latin typeface="Trebuchet MS" pitchFamily="34" charset="0"/>
                </a:rPr>
                <a:t/>
              </a:r>
              <a:br>
                <a:rPr lang="en-US" sz="2800" b="1" baseline="0" dirty="0" smtClean="0">
                  <a:solidFill>
                    <a:schemeClr val="bg1"/>
                  </a:solidFill>
                  <a:latin typeface="Trebuchet MS" pitchFamily="34" charset="0"/>
                </a:rPr>
              </a:br>
              <a:endParaRPr lang="en-US" sz="2800" b="1" dirty="0" smtClean="0">
                <a:solidFill>
                  <a:schemeClr val="bg1"/>
                </a:solidFill>
                <a:latin typeface="Trebuchet MS" pitchFamily="34" charset="0"/>
              </a:endParaRPr>
            </a:p>
            <a:p>
              <a:pPr algn="ctr"/>
              <a:endParaRPr lang="en-US" sz="2800" b="1" dirty="0" smtClean="0">
                <a:solidFill>
                  <a:srgbClr val="FFC000"/>
                </a:solidFill>
                <a:latin typeface="Trebuchet MS" pitchFamily="34" charset="0"/>
              </a:endParaRPr>
            </a:p>
            <a:p>
              <a:pPr algn="ctr"/>
              <a:endParaRPr lang="en-US" sz="2800" b="1" dirty="0" smtClean="0">
                <a:solidFill>
                  <a:srgbClr val="FFC000"/>
                </a:solidFill>
                <a:latin typeface="Trebuchet MS" pitchFamily="34" charset="0"/>
              </a:endParaRPr>
            </a:p>
            <a:p>
              <a:pPr algn="ctr"/>
              <a:r>
                <a:rPr lang="en-US" sz="3200" b="1" dirty="0" smtClean="0">
                  <a:solidFill>
                    <a:srgbClr val="FFC000"/>
                  </a:solidFill>
                  <a:latin typeface="Trebuchet MS" pitchFamily="34" charset="0"/>
                </a:rPr>
                <a:t>Adding Logos</a:t>
              </a:r>
              <a:r>
                <a:rPr lang="en-US" sz="3200" b="1" baseline="0" dirty="0" smtClean="0">
                  <a:solidFill>
                    <a:srgbClr val="FFC000"/>
                  </a:solidFill>
                  <a:latin typeface="Trebuchet MS" pitchFamily="34" charset="0"/>
                </a:rPr>
                <a:t> / Seals</a:t>
              </a:r>
            </a:p>
            <a:p>
              <a:pPr algn="l"/>
              <a:r>
                <a:rPr lang="en-US" sz="2400" b="0" baseline="0" dirty="0" smtClean="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smtClean="0">
                <a:solidFill>
                  <a:schemeClr val="bg1">
                    <a:lumMod val="75000"/>
                  </a:schemeClr>
                </a:solidFill>
                <a:latin typeface="Trebuchet MS" pitchFamily="34" charset="0"/>
              </a:endParaRPr>
            </a:p>
            <a:p>
              <a:pPr algn="l"/>
              <a:r>
                <a:rPr lang="en-US" sz="2400" b="1" spc="300" baseline="0" dirty="0" smtClean="0">
                  <a:solidFill>
                    <a:srgbClr val="FFC000"/>
                  </a:solidFill>
                  <a:latin typeface="Trebuchet MS" pitchFamily="34" charset="0"/>
                </a:rPr>
                <a:t>TIP:</a:t>
              </a:r>
              <a:r>
                <a:rPr lang="en-US" sz="2400" b="1" spc="0" baseline="0" dirty="0" smtClean="0">
                  <a:solidFill>
                    <a:srgbClr val="FFC000"/>
                  </a:solidFill>
                  <a:latin typeface="Trebuchet MS" pitchFamily="34" charset="0"/>
                </a:rPr>
                <a:t> </a:t>
              </a:r>
              <a:r>
                <a:rPr lang="en-US" sz="2400" b="0" baseline="0" dirty="0" smtClean="0">
                  <a:solidFill>
                    <a:schemeClr val="bg1">
                      <a:lumMod val="75000"/>
                    </a:schemeClr>
                  </a:solidFill>
                  <a:latin typeface="Trebuchet MS" pitchFamily="34" charset="0"/>
                </a:rPr>
                <a:t>See if your school’s logo is available on our free poster templates page.</a:t>
              </a:r>
            </a:p>
            <a:p>
              <a:pPr algn="l"/>
              <a:endParaRPr lang="en-US" sz="2400" b="0" baseline="0" dirty="0" smtClean="0">
                <a:latin typeface="Trebuchet MS" pitchFamily="34" charset="0"/>
              </a:endParaRPr>
            </a:p>
            <a:p>
              <a:pPr algn="ctr"/>
              <a:r>
                <a:rPr lang="en-US" sz="3200" b="1" baseline="0" dirty="0" smtClean="0">
                  <a:solidFill>
                    <a:srgbClr val="FFC000"/>
                  </a:solidFill>
                  <a:latin typeface="Trebuchet MS" pitchFamily="34" charset="0"/>
                </a:rPr>
                <a:t>Photographs / Graphics</a:t>
              </a:r>
            </a:p>
            <a:p>
              <a:pPr algn="l" defTabSz="977900"/>
              <a:r>
                <a:rPr lang="en-US" sz="2400" b="0" baseline="0" dirty="0" smtClean="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smtClean="0">
                  <a:solidFill>
                    <a:schemeClr val="bg1">
                      <a:lumMod val="75000"/>
                    </a:schemeClr>
                  </a:solidFill>
                  <a:latin typeface="Trebuchet MS" pitchFamily="34" charset="0"/>
                </a:rPr>
                <a:t>disproportionally.</a:t>
              </a:r>
            </a:p>
            <a:p>
              <a:pPr algn="l" defTabSz="977900"/>
              <a:endParaRPr lang="en-US" sz="2400" b="0" baseline="0" dirty="0" smtClean="0">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r>
                <a:rPr lang="en-US" sz="3200" b="1" baseline="0" dirty="0" smtClean="0">
                  <a:solidFill>
                    <a:srgbClr val="FFC000"/>
                  </a:solidFill>
                  <a:latin typeface="Trebuchet MS" pitchFamily="34" charset="0"/>
                </a:rPr>
                <a:t>Image Quality Check</a:t>
              </a:r>
            </a:p>
            <a:p>
              <a:pPr lvl="0" algn="l" defTabSz="977900"/>
              <a:r>
                <a:rPr lang="en-US" sz="2400" b="0" baseline="0" dirty="0" smtClean="0">
                  <a:solidFill>
                    <a:schemeClr val="bg1">
                      <a:lumMod val="75000"/>
                    </a:schemeClr>
                  </a:solidFill>
                  <a:latin typeface="Trebuchet MS" pitchFamily="34" charset="0"/>
                </a:rPr>
                <a:t>Zoom in and look at your images at 100% magnification. If they look good they will print well. </a:t>
              </a:r>
              <a:endParaRPr lang="en-US" sz="2800" b="0" dirty="0" smtClean="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4"/>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5"/>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6"/>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smtClean="0">
                      <a:solidFill>
                        <a:schemeClr val="tx1"/>
                      </a:solidFill>
                    </a:rPr>
                    <a:t>ORIGINAL</a:t>
                  </a:r>
                  <a:endParaRPr lang="en-US" sz="1600" b="1" dirty="0">
                    <a:solidFill>
                      <a:schemeClr val="tx1"/>
                    </a:solidFill>
                  </a:endParaRP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6"/>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smtClean="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7"/>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smtClean="0">
                    <a:solidFill>
                      <a:schemeClr val="bg1"/>
                    </a:solidFill>
                  </a:rPr>
                  <a:t>Corner</a:t>
                </a:r>
                <a:r>
                  <a:rPr lang="en-US" sz="1600" baseline="0" dirty="0" smtClean="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spid="_x0000_s1299" name="Image" r:id="rId8" imgW="1828440" imgH="1117440" progId="Photoshop.Image.13">
                      <p:embed/>
                    </p:oleObj>
                  </mc:Choice>
                  <mc:Fallback>
                    <p:oleObj name="Image" r:id="rId8" imgW="1828440" imgH="1117440" progId="Photoshop.Image.13">
                      <p:embed/>
                      <p:pic>
                        <p:nvPicPr>
                          <p:cNvPr id="0" name=""/>
                          <p:cNvPicPr/>
                          <p:nvPr/>
                        </p:nvPicPr>
                        <p:blipFill>
                          <a:blip r:embed="rId9"/>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spid="_x0000_s1300" name="Image" r:id="rId10" imgW="1828440" imgH="1117440" progId="Photoshop.Image.13">
                      <p:embed/>
                    </p:oleObj>
                  </mc:Choice>
                  <mc:Fallback>
                    <p:oleObj name="Image" r:id="rId10" imgW="1828440" imgH="1117440" progId="Photoshop.Image.13">
                      <p:embed/>
                      <p:pic>
                        <p:nvPicPr>
                          <p:cNvPr id="0" name=""/>
                          <p:cNvPicPr/>
                          <p:nvPr/>
                        </p:nvPicPr>
                        <p:blipFill>
                          <a:blip r:embed="rId11"/>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smtClean="0">
                    <a:solidFill>
                      <a:srgbClr val="92D050"/>
                    </a:solidFill>
                  </a:rPr>
                  <a:t>Good</a:t>
                </a:r>
                <a:r>
                  <a:rPr lang="en-US" sz="1600" baseline="0" dirty="0" smtClean="0">
                    <a:solidFill>
                      <a:srgbClr val="92D050"/>
                    </a:solidFill>
                  </a:rPr>
                  <a:t> </a:t>
                </a:r>
                <a:r>
                  <a:rPr lang="en-US" sz="1600" baseline="0" dirty="0" smtClean="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smtClean="0">
                    <a:solidFill>
                      <a:srgbClr val="FF0000"/>
                    </a:solidFill>
                  </a:rPr>
                  <a:t>Bad </a:t>
                </a:r>
                <a:r>
                  <a:rPr lang="en-US" sz="1600" dirty="0" smtClean="0">
                    <a:solidFill>
                      <a:schemeClr val="bg1"/>
                    </a:solidFill>
                  </a:rPr>
                  <a:t>printing quality</a:t>
                </a:r>
                <a:endParaRPr lang="en-US" sz="1600" dirty="0">
                  <a:solidFill>
                    <a:schemeClr val="bg1"/>
                  </a:solidFill>
                </a:endParaRP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smtClean="0">
                  <a:solidFill>
                    <a:schemeClr val="bg1"/>
                  </a:solidFill>
                  <a:latin typeface="Trebuchet MS" pitchFamily="34" charset="0"/>
                </a:rPr>
                <a:t>QUICK START (cont.)</a:t>
              </a:r>
            </a:p>
            <a:p>
              <a:pPr algn="ctr"/>
              <a:endParaRPr lang="en-US" sz="3600" b="1" baseline="0" dirty="0" smtClean="0">
                <a:solidFill>
                  <a:schemeClr val="bg1"/>
                </a:solidFill>
                <a:latin typeface="Trebuchet MS" pitchFamily="34" charset="0"/>
              </a:endParaRPr>
            </a:p>
            <a:p>
              <a:pPr algn="ctr"/>
              <a:r>
                <a:rPr lang="en-US" sz="3200" b="1" baseline="0" dirty="0" smtClean="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smtClean="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smtClean="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r>
                <a:rPr lang="en-US" sz="2400" b="0" baseline="0" dirty="0" smtClean="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smtClean="0">
                <a:solidFill>
                  <a:schemeClr val="bg1">
                    <a:lumMod val="75000"/>
                  </a:schemeClr>
                </a:solidFill>
                <a:latin typeface="Trebuchet MS" pitchFamily="34" charset="0"/>
              </a:endParaRPr>
            </a:p>
            <a:p>
              <a:pPr algn="ctr"/>
              <a:r>
                <a:rPr lang="en-US" sz="3200" b="1" baseline="0" dirty="0" smtClean="0">
                  <a:solidFill>
                    <a:srgbClr val="FFC000"/>
                  </a:solidFill>
                  <a:latin typeface="Trebuchet MS" pitchFamily="34" charset="0"/>
                </a:rPr>
                <a:t>How to add Text</a:t>
              </a:r>
            </a:p>
            <a:p>
              <a:pPr marL="3265488" lvl="2" indent="0" algn="l" defTabSz="114300"/>
              <a:r>
                <a:rPr lang="en-US" sz="2400" b="0" baseline="0" dirty="0" smtClean="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smtClean="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smtClean="0">
                  <a:solidFill>
                    <a:schemeClr val="bg1">
                      <a:lumMod val="75000"/>
                    </a:schemeClr>
                  </a:solidFill>
                  <a:latin typeface="Trebuchet MS" pitchFamily="34" charset="0"/>
                </a:rPr>
                <a:t> </a:t>
              </a:r>
              <a:r>
                <a:rPr kumimoji="0" lang="en-US" sz="3200" b="1" i="0" u="none" strike="noStrike" kern="1200" cap="none" spc="0" normalizeH="0" baseline="0" noProof="0" dirty="0" smtClean="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smtClean="0">
                <a:solidFill>
                  <a:schemeClr val="bg1">
                    <a:lumMod val="75000"/>
                  </a:schemeClr>
                </a:solidFill>
                <a:latin typeface="Trebuchet MS" pitchFamily="34" charset="0"/>
              </a:endParaRPr>
            </a:p>
            <a:p>
              <a:pPr marL="1518341" lvl="2" indent="0" algn="l" defTabSz="114300"/>
              <a:endParaRPr lang="en-US" sz="2400" b="0" baseline="0" dirty="0" smtClean="0">
                <a:solidFill>
                  <a:schemeClr val="bg1">
                    <a:lumMod val="75000"/>
                  </a:schemeClr>
                </a:solidFill>
                <a:latin typeface="Trebuchet MS" pitchFamily="34" charset="0"/>
              </a:endParaRPr>
            </a:p>
            <a:p>
              <a:pPr algn="ctr"/>
              <a:r>
                <a:rPr lang="en-US" sz="3200" b="1" baseline="0" dirty="0" smtClean="0">
                  <a:solidFill>
                    <a:srgbClr val="FFC000"/>
                  </a:solidFill>
                  <a:latin typeface="Trebuchet MS" pitchFamily="34" charset="0"/>
                </a:rPr>
                <a:t>How to add Tables</a:t>
              </a:r>
            </a:p>
            <a:p>
              <a:pPr marL="1730375" lvl="1" indent="0" algn="l" defTabSz="114300"/>
              <a:r>
                <a:rPr lang="en-US" sz="2400" b="0" baseline="0" dirty="0" smtClean="0">
                  <a:solidFill>
                    <a:schemeClr val="bg1">
                      <a:lumMod val="75000"/>
                    </a:schemeClr>
                  </a:solidFill>
                  <a:latin typeface="Trebuchet MS" pitchFamily="34" charset="0"/>
                </a:rPr>
                <a:t>To add a table from scratch go to the INSERT menu and </a:t>
              </a:r>
              <a:br>
                <a:rPr lang="en-US" sz="2400" b="0" baseline="0" dirty="0" smtClean="0">
                  <a:solidFill>
                    <a:schemeClr val="bg1">
                      <a:lumMod val="75000"/>
                    </a:schemeClr>
                  </a:solidFill>
                  <a:latin typeface="Trebuchet MS" pitchFamily="34" charset="0"/>
                </a:rPr>
              </a:br>
              <a:r>
                <a:rPr lang="en-US" sz="2400" b="0" baseline="0" dirty="0" smtClean="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smtClean="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smtClean="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smtClean="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smtClean="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smtClean="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spid="_x0000_s1301" name="Image" r:id="rId12" imgW="4571280" imgH="1688760" progId="Photoshop.Image.13">
                    <p:embed/>
                  </p:oleObj>
                </mc:Choice>
                <mc:Fallback>
                  <p:oleObj name="Image" r:id="rId12" imgW="4571280" imgH="1688760" progId="Photoshop.Image.13">
                    <p:embed/>
                    <p:pic>
                      <p:nvPicPr>
                        <p:cNvPr id="0" name=""/>
                        <p:cNvPicPr/>
                        <p:nvPr/>
                      </p:nvPicPr>
                      <p:blipFill>
                        <a:blip r:embed="rId13"/>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4"/>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spid="_x0000_s1302" name="Image" r:id="rId15" imgW="1574280" imgH="1053720" progId="Photoshop.Image.13">
                    <p:embed/>
                  </p:oleObj>
                </mc:Choice>
                <mc:Fallback>
                  <p:oleObj name="Image" r:id="rId15" imgW="1574280" imgH="1053720" progId="Photoshop.Image.13">
                    <p:embed/>
                    <p:pic>
                      <p:nvPicPr>
                        <p:cNvPr id="0" name=""/>
                        <p:cNvPicPr/>
                        <p:nvPr/>
                      </p:nvPicPr>
                      <p:blipFill>
                        <a:blip r:embed="rId16"/>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7"/>
              </p:cNvPr>
              <p:cNvPicPr>
                <a:picLocks noChangeAspect="1" noChangeArrowheads="1"/>
              </p:cNvPicPr>
              <p:nvPr userDrawn="1"/>
            </p:nvPicPr>
            <p:blipFill>
              <a:blip r:embed="rId18"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smtClean="0">
                    <a:solidFill>
                      <a:schemeClr val="tx2"/>
                    </a:solidFill>
                    <a:latin typeface="Trebuchet MS" pitchFamily="34" charset="0"/>
                  </a:rPr>
                  <a:t>Student</a:t>
                </a:r>
                <a:r>
                  <a:rPr lang="en-US" sz="2400" baseline="0" dirty="0" smtClean="0">
                    <a:solidFill>
                      <a:schemeClr val="tx2"/>
                    </a:solidFill>
                    <a:latin typeface="Trebuchet MS" pitchFamily="34" charset="0"/>
                  </a:rPr>
                  <a:t> discounts are available on our </a:t>
                </a:r>
                <a:r>
                  <a:rPr lang="en-US" sz="2400" baseline="0" dirty="0" err="1" smtClean="0">
                    <a:solidFill>
                      <a:schemeClr val="tx2"/>
                    </a:solidFill>
                    <a:latin typeface="Trebuchet MS" pitchFamily="34" charset="0"/>
                  </a:rPr>
                  <a:t>Facebook</a:t>
                </a:r>
                <a:r>
                  <a:rPr lang="en-US" sz="2400" baseline="0" dirty="0" smtClean="0">
                    <a:solidFill>
                      <a:schemeClr val="tx2"/>
                    </a:solidFill>
                    <a:latin typeface="Trebuchet MS" pitchFamily="34" charset="0"/>
                  </a:rPr>
                  <a:t> page.</a:t>
                </a:r>
                <a:br>
                  <a:rPr lang="en-US" sz="2400" baseline="0" dirty="0" smtClean="0">
                    <a:solidFill>
                      <a:schemeClr val="tx2"/>
                    </a:solidFill>
                    <a:latin typeface="Trebuchet MS" pitchFamily="34" charset="0"/>
                  </a:rPr>
                </a:br>
                <a:r>
                  <a:rPr lang="en-US" sz="2400" baseline="0" dirty="0" smtClean="0">
                    <a:solidFill>
                      <a:schemeClr val="tx2"/>
                    </a:solidFill>
                    <a:latin typeface="Trebuchet MS" pitchFamily="34" charset="0"/>
                  </a:rPr>
                  <a:t>Go to </a:t>
                </a:r>
                <a:r>
                  <a:rPr lang="en-US" sz="2400" u="sng" baseline="0" dirty="0" smtClean="0">
                    <a:solidFill>
                      <a:schemeClr val="tx2"/>
                    </a:solidFill>
                    <a:latin typeface="Trebuchet MS" pitchFamily="34" charset="0"/>
                  </a:rPr>
                  <a:t>PosterPresentations.com</a:t>
                </a:r>
                <a:r>
                  <a:rPr lang="en-US" sz="2400" baseline="0" dirty="0" smtClean="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smtClean="0">
                  <a:solidFill>
                    <a:schemeClr val="bg1"/>
                  </a:solidFill>
                </a:rPr>
                <a:t>© 2015</a:t>
              </a:r>
              <a:r>
                <a:rPr lang="en-US" sz="2800" baseline="0" dirty="0" smtClean="0">
                  <a:solidFill>
                    <a:schemeClr val="bg1"/>
                  </a:solidFill>
                </a:rPr>
                <a:t> </a:t>
              </a:r>
              <a:r>
                <a:rPr lang="en-US" sz="2800" dirty="0" smtClean="0">
                  <a:solidFill>
                    <a:schemeClr val="bg1"/>
                  </a:solidFill>
                </a:rPr>
                <a:t>PosterPresentations.com</a:t>
              </a:r>
              <a:br>
                <a:rPr lang="en-US" sz="2800" dirty="0" smtClean="0">
                  <a:solidFill>
                    <a:schemeClr val="bg1"/>
                  </a:solidFill>
                </a:rPr>
              </a:br>
              <a:r>
                <a:rPr lang="en-US" sz="2800" dirty="0" smtClean="0">
                  <a:solidFill>
                    <a:schemeClr val="bg1"/>
                  </a:solidFill>
                </a:rPr>
                <a:t>    </a:t>
              </a:r>
              <a:r>
                <a:rPr lang="en-US" sz="2400" dirty="0" smtClean="0">
                  <a:solidFill>
                    <a:schemeClr val="bg1"/>
                  </a:solidFill>
                </a:rPr>
                <a:t>2117 Fourth Street ,</a:t>
              </a:r>
              <a:r>
                <a:rPr lang="en-US" sz="2400" baseline="0" dirty="0" smtClean="0">
                  <a:solidFill>
                    <a:schemeClr val="bg1"/>
                  </a:solidFill>
                </a:rPr>
                <a:t> Unit C        </a:t>
              </a:r>
            </a:p>
            <a:p>
              <a:pPr>
                <a:lnSpc>
                  <a:spcPts val="2600"/>
                </a:lnSpc>
              </a:pPr>
              <a:r>
                <a:rPr lang="en-US" sz="2400" baseline="0" dirty="0" smtClean="0">
                  <a:solidFill>
                    <a:schemeClr val="bg1"/>
                  </a:solidFill>
                </a:rPr>
                <a:t>     Berkeley CA </a:t>
              </a:r>
              <a:r>
                <a:rPr lang="en-US" sz="2000" baseline="0" dirty="0" smtClean="0">
                  <a:solidFill>
                    <a:schemeClr val="bg1"/>
                  </a:solidFill>
                </a:rPr>
                <a:t>94710</a:t>
              </a:r>
              <a:r>
                <a:rPr lang="en-US" sz="2400" baseline="0" dirty="0" smtClean="0">
                  <a:solidFill>
                    <a:schemeClr val="bg1"/>
                  </a:solidFill>
                </a:rPr>
                <a:t/>
              </a:r>
              <a:br>
                <a:rPr lang="en-US" sz="2400" baseline="0" dirty="0" smtClean="0">
                  <a:solidFill>
                    <a:schemeClr val="bg1"/>
                  </a:solidFill>
                </a:rPr>
              </a:br>
              <a:r>
                <a:rPr lang="en-US" sz="2400" baseline="0" dirty="0" smtClean="0">
                  <a:solidFill>
                    <a:schemeClr val="bg1"/>
                  </a:solidFill>
                </a:rPr>
                <a:t>    </a:t>
              </a:r>
              <a:r>
                <a:rPr lang="en-US" sz="2400" b="1" baseline="0" dirty="0" smtClean="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iming>
    <p:tnLst>
      <p:par>
        <p:cTn xmlns:p14="http://schemas.microsoft.com/office/powerpoint/2010/main" id="1" dur="indefinite" restart="never" nodeType="tmRoot"/>
      </p:par>
    </p:tnLst>
  </p:timing>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smtClean="0">
                  <a:solidFill>
                    <a:schemeClr val="bg1"/>
                  </a:solidFill>
                  <a:latin typeface="Trebuchet MS" pitchFamily="34" charset="0"/>
                </a:rPr>
                <a:t>QUICK START (cont.)</a:t>
              </a:r>
            </a:p>
            <a:p>
              <a:pPr algn="ctr"/>
              <a:endParaRPr lang="en-US" sz="3600" b="1" baseline="0" dirty="0" smtClean="0">
                <a:solidFill>
                  <a:schemeClr val="bg1"/>
                </a:solidFill>
                <a:latin typeface="Trebuchet MS" pitchFamily="34" charset="0"/>
              </a:endParaRPr>
            </a:p>
            <a:p>
              <a:pPr algn="ctr"/>
              <a:r>
                <a:rPr lang="en-US" sz="3200" b="1" baseline="0" dirty="0" smtClean="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smtClean="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smtClean="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r>
                <a:rPr lang="en-US" sz="2400" b="0" baseline="0" dirty="0" smtClean="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smtClean="0">
                <a:solidFill>
                  <a:schemeClr val="bg1">
                    <a:lumMod val="75000"/>
                  </a:schemeClr>
                </a:solidFill>
                <a:latin typeface="Trebuchet MS" pitchFamily="34" charset="0"/>
              </a:endParaRPr>
            </a:p>
            <a:p>
              <a:pPr algn="ctr"/>
              <a:r>
                <a:rPr lang="en-US" sz="3200" b="1" baseline="0" dirty="0" smtClean="0">
                  <a:solidFill>
                    <a:srgbClr val="FFC000"/>
                  </a:solidFill>
                  <a:latin typeface="Trebuchet MS" pitchFamily="34" charset="0"/>
                </a:rPr>
                <a:t>How to add Text</a:t>
              </a:r>
            </a:p>
            <a:p>
              <a:pPr marL="3265488" lvl="2" indent="0" algn="l" defTabSz="114300"/>
              <a:r>
                <a:rPr lang="en-US" sz="2400" b="0" baseline="0" dirty="0" smtClean="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smtClean="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smtClean="0">
                  <a:solidFill>
                    <a:schemeClr val="bg1">
                      <a:lumMod val="75000"/>
                    </a:schemeClr>
                  </a:solidFill>
                  <a:latin typeface="Trebuchet MS" pitchFamily="34" charset="0"/>
                </a:rPr>
                <a:t> </a:t>
              </a:r>
              <a:r>
                <a:rPr kumimoji="0" lang="en-US" sz="3200" b="1" i="0" u="none" strike="noStrike" kern="1200" cap="none" spc="0" normalizeH="0" baseline="0" noProof="0" dirty="0" smtClean="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smtClean="0">
                <a:solidFill>
                  <a:schemeClr val="bg1">
                    <a:lumMod val="75000"/>
                  </a:schemeClr>
                </a:solidFill>
                <a:latin typeface="Trebuchet MS" pitchFamily="34" charset="0"/>
              </a:endParaRPr>
            </a:p>
            <a:p>
              <a:pPr marL="1518341" lvl="2" indent="0" algn="l" defTabSz="114300"/>
              <a:endParaRPr lang="en-US" sz="2400" b="0" baseline="0" dirty="0" smtClean="0">
                <a:solidFill>
                  <a:schemeClr val="bg1">
                    <a:lumMod val="75000"/>
                  </a:schemeClr>
                </a:solidFill>
                <a:latin typeface="Trebuchet MS" pitchFamily="34" charset="0"/>
              </a:endParaRPr>
            </a:p>
            <a:p>
              <a:pPr algn="ctr"/>
              <a:r>
                <a:rPr lang="en-US" sz="3200" b="1" baseline="0" dirty="0" smtClean="0">
                  <a:solidFill>
                    <a:srgbClr val="FFC000"/>
                  </a:solidFill>
                  <a:latin typeface="Trebuchet MS" pitchFamily="34" charset="0"/>
                </a:rPr>
                <a:t>How to add Tables</a:t>
              </a:r>
            </a:p>
            <a:p>
              <a:pPr marL="1730375" lvl="1" indent="0" algn="l" defTabSz="114300"/>
              <a:r>
                <a:rPr lang="en-US" sz="2400" b="0" baseline="0" dirty="0" smtClean="0">
                  <a:solidFill>
                    <a:schemeClr val="bg1">
                      <a:lumMod val="75000"/>
                    </a:schemeClr>
                  </a:solidFill>
                  <a:latin typeface="Trebuchet MS" pitchFamily="34" charset="0"/>
                </a:rPr>
                <a:t>To add a table from scratch go to the INSERT menu and </a:t>
              </a:r>
              <a:br>
                <a:rPr lang="en-US" sz="2400" b="0" baseline="0" dirty="0" smtClean="0">
                  <a:solidFill>
                    <a:schemeClr val="bg1">
                      <a:lumMod val="75000"/>
                    </a:schemeClr>
                  </a:solidFill>
                  <a:latin typeface="Trebuchet MS" pitchFamily="34" charset="0"/>
                </a:rPr>
              </a:br>
              <a:r>
                <a:rPr lang="en-US" sz="2400" b="0" baseline="0" dirty="0" smtClean="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smtClean="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smtClean="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smtClean="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smtClean="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smtClean="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spid="_x0000_s2323" name="Image" r:id="rId4" imgW="4571280" imgH="1688760" progId="Photoshop.Image.13">
                    <p:embed/>
                  </p:oleObj>
                </mc:Choice>
                <mc:Fallback>
                  <p:oleObj name="Image" r:id="rId4" imgW="4571280" imgH="1688760" progId="Photoshop.Image.13">
                    <p:embed/>
                    <p:pic>
                      <p:nvPicPr>
                        <p:cNvPr id="0" name=""/>
                        <p:cNvPicPr/>
                        <p:nvPr/>
                      </p:nvPicPr>
                      <p:blipFill>
                        <a:blip r:embed="rId5"/>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6"/>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spid="_x0000_s2324" name="Image" r:id="rId7" imgW="1574280" imgH="1053720" progId="Photoshop.Image.13">
                    <p:embed/>
                  </p:oleObj>
                </mc:Choice>
                <mc:Fallback>
                  <p:oleObj name="Image" r:id="rId7" imgW="1574280" imgH="1053720" progId="Photoshop.Image.13">
                    <p:embed/>
                    <p:pic>
                      <p:nvPicPr>
                        <p:cNvPr id="0" name=""/>
                        <p:cNvPicPr/>
                        <p:nvPr/>
                      </p:nvPicPr>
                      <p:blipFill>
                        <a:blip r:embed="rId8"/>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9"/>
              </p:cNvPr>
              <p:cNvPicPr>
                <a:picLocks noChangeAspect="1" noChangeArrowheads="1"/>
              </p:cNvPicPr>
              <p:nvPr userDrawn="1"/>
            </p:nvPicPr>
            <p:blipFill>
              <a:blip r:embed="rId10"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smtClean="0">
                    <a:solidFill>
                      <a:schemeClr val="tx2"/>
                    </a:solidFill>
                    <a:latin typeface="Trebuchet MS" pitchFamily="34" charset="0"/>
                  </a:rPr>
                  <a:t>Student</a:t>
                </a:r>
                <a:r>
                  <a:rPr lang="en-US" sz="2400" baseline="0" dirty="0" smtClean="0">
                    <a:solidFill>
                      <a:schemeClr val="tx2"/>
                    </a:solidFill>
                    <a:latin typeface="Trebuchet MS" pitchFamily="34" charset="0"/>
                  </a:rPr>
                  <a:t> discounts are available on our </a:t>
                </a:r>
                <a:r>
                  <a:rPr lang="en-US" sz="2400" baseline="0" dirty="0" err="1" smtClean="0">
                    <a:solidFill>
                      <a:schemeClr val="tx2"/>
                    </a:solidFill>
                    <a:latin typeface="Trebuchet MS" pitchFamily="34" charset="0"/>
                  </a:rPr>
                  <a:t>Facebook</a:t>
                </a:r>
                <a:r>
                  <a:rPr lang="en-US" sz="2400" baseline="0" dirty="0" smtClean="0">
                    <a:solidFill>
                      <a:schemeClr val="tx2"/>
                    </a:solidFill>
                    <a:latin typeface="Trebuchet MS" pitchFamily="34" charset="0"/>
                  </a:rPr>
                  <a:t> page.</a:t>
                </a:r>
                <a:br>
                  <a:rPr lang="en-US" sz="2400" baseline="0" dirty="0" smtClean="0">
                    <a:solidFill>
                      <a:schemeClr val="tx2"/>
                    </a:solidFill>
                    <a:latin typeface="Trebuchet MS" pitchFamily="34" charset="0"/>
                  </a:rPr>
                </a:br>
                <a:r>
                  <a:rPr lang="en-US" sz="2400" baseline="0" dirty="0" smtClean="0">
                    <a:solidFill>
                      <a:schemeClr val="tx2"/>
                    </a:solidFill>
                    <a:latin typeface="Trebuchet MS" pitchFamily="34" charset="0"/>
                  </a:rPr>
                  <a:t>Go to </a:t>
                </a:r>
                <a:r>
                  <a:rPr lang="en-US" sz="2400" u="sng" baseline="0" dirty="0" smtClean="0">
                    <a:solidFill>
                      <a:schemeClr val="tx2"/>
                    </a:solidFill>
                    <a:latin typeface="Trebuchet MS" pitchFamily="34" charset="0"/>
                  </a:rPr>
                  <a:t>PosterPresentations.com</a:t>
                </a:r>
                <a:r>
                  <a:rPr lang="en-US" sz="2400" baseline="0" dirty="0" smtClean="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smtClean="0">
                  <a:solidFill>
                    <a:schemeClr val="bg1"/>
                  </a:solidFill>
                </a:rPr>
                <a:t>© 2015</a:t>
              </a:r>
              <a:r>
                <a:rPr lang="en-US" sz="2800" baseline="0" dirty="0" smtClean="0">
                  <a:solidFill>
                    <a:schemeClr val="bg1"/>
                  </a:solidFill>
                </a:rPr>
                <a:t> </a:t>
              </a:r>
              <a:r>
                <a:rPr lang="en-US" sz="2800" dirty="0" smtClean="0">
                  <a:solidFill>
                    <a:schemeClr val="bg1"/>
                  </a:solidFill>
                </a:rPr>
                <a:t>PosterPresentations.com</a:t>
              </a:r>
              <a:br>
                <a:rPr lang="en-US" sz="2800" dirty="0" smtClean="0">
                  <a:solidFill>
                    <a:schemeClr val="bg1"/>
                  </a:solidFill>
                </a:rPr>
              </a:br>
              <a:r>
                <a:rPr lang="en-US" sz="2800" dirty="0" smtClean="0">
                  <a:solidFill>
                    <a:schemeClr val="bg1"/>
                  </a:solidFill>
                </a:rPr>
                <a:t>    </a:t>
              </a:r>
              <a:r>
                <a:rPr lang="en-US" sz="2400" dirty="0" smtClean="0">
                  <a:solidFill>
                    <a:schemeClr val="bg1"/>
                  </a:solidFill>
                </a:rPr>
                <a:t>2117 Fourth Street ,</a:t>
              </a:r>
              <a:r>
                <a:rPr lang="en-US" sz="2400" baseline="0" dirty="0" smtClean="0">
                  <a:solidFill>
                    <a:schemeClr val="bg1"/>
                  </a:solidFill>
                </a:rPr>
                <a:t> Unit C        </a:t>
              </a:r>
            </a:p>
            <a:p>
              <a:pPr>
                <a:lnSpc>
                  <a:spcPts val="2600"/>
                </a:lnSpc>
              </a:pPr>
              <a:r>
                <a:rPr lang="en-US" sz="2400" baseline="0" dirty="0" smtClean="0">
                  <a:solidFill>
                    <a:schemeClr val="bg1"/>
                  </a:solidFill>
                </a:rPr>
                <a:t>     Berkeley CA </a:t>
              </a:r>
              <a:r>
                <a:rPr lang="en-US" sz="2000" baseline="0" dirty="0" smtClean="0">
                  <a:solidFill>
                    <a:schemeClr val="bg1"/>
                  </a:solidFill>
                </a:rPr>
                <a:t>94710</a:t>
              </a:r>
              <a:r>
                <a:rPr lang="en-US" sz="2400" baseline="0" dirty="0" smtClean="0">
                  <a:solidFill>
                    <a:schemeClr val="bg1"/>
                  </a:solidFill>
                </a:rPr>
                <a:t/>
              </a:r>
              <a:br>
                <a:rPr lang="en-US" sz="2400" baseline="0" dirty="0" smtClean="0">
                  <a:solidFill>
                    <a:schemeClr val="bg1"/>
                  </a:solidFill>
                </a:rPr>
              </a:br>
              <a:r>
                <a:rPr lang="en-US" sz="2400" baseline="0" dirty="0" smtClean="0">
                  <a:solidFill>
                    <a:schemeClr val="bg1"/>
                  </a:solidFill>
                </a:rPr>
                <a:t>    </a:t>
              </a:r>
              <a:r>
                <a:rPr lang="en-US" sz="2400" b="1" baseline="0" dirty="0" smtClean="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smtClean="0">
                  <a:solidFill>
                    <a:srgbClr val="FF0000"/>
                  </a:solidFill>
                  <a:latin typeface="Trebuchet MS" pitchFamily="34" charset="0"/>
                </a:rPr>
                <a:t>(—THIS SIDEBAR DOES NOT PRINT—)</a:t>
              </a:r>
              <a:endParaRPr lang="en-US" sz="3200" b="1" spc="600" dirty="0" smtClean="0">
                <a:solidFill>
                  <a:schemeClr val="bg1"/>
                </a:solidFill>
                <a:latin typeface="Trebuchet MS" pitchFamily="34" charset="0"/>
              </a:endParaRPr>
            </a:p>
            <a:p>
              <a:pPr algn="ctr"/>
              <a:r>
                <a:rPr lang="en-US" sz="4000" b="1" spc="600" dirty="0" smtClean="0">
                  <a:solidFill>
                    <a:schemeClr val="bg1"/>
                  </a:solidFill>
                  <a:latin typeface="Trebuchet MS" pitchFamily="34" charset="0"/>
                </a:rPr>
                <a:t>DESIGN</a:t>
              </a:r>
              <a:r>
                <a:rPr lang="en-US" sz="4000" b="1" spc="600" baseline="0" dirty="0" smtClean="0">
                  <a:solidFill>
                    <a:schemeClr val="bg1"/>
                  </a:solidFill>
                  <a:latin typeface="Trebuchet MS" pitchFamily="34" charset="0"/>
                </a:rPr>
                <a:t> </a:t>
              </a:r>
              <a:r>
                <a:rPr lang="en-US" sz="4000" b="1" spc="600" dirty="0" smtClean="0">
                  <a:solidFill>
                    <a:schemeClr val="bg1"/>
                  </a:solidFill>
                  <a:latin typeface="Trebuchet MS" pitchFamily="34" charset="0"/>
                </a:rPr>
                <a:t>GUIDE</a:t>
              </a:r>
            </a:p>
            <a:p>
              <a:pPr algn="ctr"/>
              <a:endParaRPr lang="en-US" sz="2800" b="1" dirty="0" smtClean="0">
                <a:latin typeface="Trebuchet MS" pitchFamily="34" charset="0"/>
              </a:endParaRPr>
            </a:p>
            <a:p>
              <a:pPr defTabSz="3765639"/>
              <a:r>
                <a:rPr lang="en-US" sz="2800" i="0" dirty="0" smtClean="0">
                  <a:latin typeface="Trebuchet MS" pitchFamily="34" charset="0"/>
                </a:rPr>
                <a:t>This PowerPoint</a:t>
              </a:r>
              <a:r>
                <a:rPr lang="en-US" sz="2800" i="0" baseline="0" dirty="0" smtClean="0">
                  <a:latin typeface="Trebuchet MS" pitchFamily="34" charset="0"/>
                </a:rPr>
                <a:t> </a:t>
              </a:r>
              <a:r>
                <a:rPr lang="en-US" sz="2800" i="0" dirty="0" smtClean="0">
                  <a:latin typeface="Trebuchet MS" pitchFamily="34" charset="0"/>
                </a:rPr>
                <a:t>2007 template produces</a:t>
              </a:r>
              <a:r>
                <a:rPr lang="en-US" sz="2800" i="0" baseline="0" dirty="0" smtClean="0">
                  <a:latin typeface="Trebuchet MS" pitchFamily="34" charset="0"/>
                </a:rPr>
                <a:t> </a:t>
              </a:r>
              <a:r>
                <a:rPr lang="en-US" sz="2800" i="0" dirty="0" smtClean="0">
                  <a:latin typeface="Trebuchet MS" pitchFamily="34" charset="0"/>
                </a:rPr>
                <a:t>a 36”x48” presentation poster. </a:t>
              </a:r>
              <a:r>
                <a:rPr lang="en-US" sz="2800" dirty="0" smtClean="0">
                  <a:latin typeface="Trebuchet MS" pitchFamily="34" charset="0"/>
                </a:rPr>
                <a:t>You</a:t>
              </a:r>
              <a:r>
                <a:rPr lang="en-US" sz="2800" baseline="0" dirty="0" smtClean="0">
                  <a:latin typeface="Trebuchet MS" pitchFamily="34" charset="0"/>
                </a:rPr>
                <a:t> can u</a:t>
              </a:r>
              <a:r>
                <a:rPr lang="en-US" sz="2800" dirty="0" smtClean="0">
                  <a:latin typeface="Trebuchet MS" pitchFamily="34" charset="0"/>
                </a:rPr>
                <a:t>se</a:t>
              </a:r>
              <a:r>
                <a:rPr lang="en-US" sz="2800" baseline="0" dirty="0" smtClean="0">
                  <a:latin typeface="Trebuchet MS" pitchFamily="34" charset="0"/>
                </a:rPr>
                <a:t> it to create your research poster and </a:t>
              </a:r>
              <a:r>
                <a:rPr lang="en-US" sz="2800" dirty="0" smtClean="0">
                  <a:latin typeface="Trebuchet MS" pitchFamily="34" charset="0"/>
                </a:rPr>
                <a:t>save valuable time placing titles, subtitles,</a:t>
              </a:r>
              <a:r>
                <a:rPr lang="en-US" sz="2800" baseline="0" dirty="0" smtClean="0">
                  <a:latin typeface="Trebuchet MS" pitchFamily="34" charset="0"/>
                </a:rPr>
                <a:t> text, and graphics</a:t>
              </a:r>
              <a:r>
                <a:rPr lang="en-US" sz="2800" dirty="0" smtClean="0">
                  <a:latin typeface="Trebuchet MS" pitchFamily="34" charset="0"/>
                </a:rPr>
                <a:t>. </a:t>
              </a:r>
            </a:p>
            <a:p>
              <a:pPr defTabSz="3765639"/>
              <a:endParaRPr lang="en-US" sz="2800" dirty="0" smtClean="0">
                <a:latin typeface="Trebuchet MS" pitchFamily="34" charset="0"/>
              </a:endParaRPr>
            </a:p>
            <a:p>
              <a:pPr defTabSz="4389219"/>
              <a:r>
                <a:rPr lang="en-US" sz="2800" dirty="0" smtClean="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smtClean="0">
                  <a:solidFill>
                    <a:srgbClr val="FFC000"/>
                  </a:solidFill>
                  <a:latin typeface="Trebuchet MS" pitchFamily="34" charset="0"/>
                </a:rPr>
                <a:t>PosterPresentations.com</a:t>
              </a:r>
              <a:r>
                <a:rPr lang="en-US" sz="2800" b="1" dirty="0" smtClean="0">
                  <a:solidFill>
                    <a:schemeClr val="bg1"/>
                  </a:solidFill>
                  <a:latin typeface="Trebuchet MS" pitchFamily="34" charset="0"/>
                </a:rPr>
                <a:t> </a:t>
              </a:r>
              <a:r>
                <a:rPr lang="en-US" sz="2800" dirty="0" smtClean="0">
                  <a:solidFill>
                    <a:schemeClr val="bg1"/>
                  </a:solidFill>
                  <a:latin typeface="Trebuchet MS" pitchFamily="34" charset="0"/>
                </a:rPr>
                <a:t>and click on HELP DESK.</a:t>
              </a:r>
            </a:p>
            <a:p>
              <a:pPr defTabSz="4389219"/>
              <a:endParaRPr lang="en-US" sz="2800" dirty="0" smtClean="0">
                <a:latin typeface="Trebuchet MS" pitchFamily="34" charset="0"/>
              </a:endParaRPr>
            </a:p>
            <a:p>
              <a:pPr defTabSz="4389219"/>
              <a:r>
                <a:rPr lang="en-US" sz="2800" dirty="0" smtClean="0">
                  <a:solidFill>
                    <a:schemeClr val="bg1"/>
                  </a:solidFill>
                  <a:latin typeface="Trebuchet MS" pitchFamily="34" charset="0"/>
                </a:rPr>
                <a:t>When</a:t>
              </a:r>
              <a:r>
                <a:rPr lang="en-US" sz="2800" baseline="0" dirty="0" smtClean="0">
                  <a:solidFill>
                    <a:schemeClr val="bg1"/>
                  </a:solidFill>
                  <a:latin typeface="Trebuchet MS" pitchFamily="34" charset="0"/>
                </a:rPr>
                <a:t> you are ready to print your poster</a:t>
              </a:r>
              <a:r>
                <a:rPr lang="en-US" sz="2800" dirty="0" smtClean="0">
                  <a:solidFill>
                    <a:schemeClr val="bg1"/>
                  </a:solidFill>
                  <a:latin typeface="Trebuchet MS" pitchFamily="34" charset="0"/>
                </a:rPr>
                <a:t>,</a:t>
              </a:r>
              <a:r>
                <a:rPr lang="en-US" sz="2800" baseline="0" dirty="0" smtClean="0">
                  <a:solidFill>
                    <a:schemeClr val="bg1"/>
                  </a:solidFill>
                  <a:latin typeface="Trebuchet MS" pitchFamily="34" charset="0"/>
                </a:rPr>
                <a:t> go online to </a:t>
              </a:r>
              <a:r>
                <a:rPr lang="en-US" sz="2800" b="0" dirty="0" smtClean="0">
                  <a:solidFill>
                    <a:schemeClr val="bg1"/>
                  </a:solidFill>
                  <a:latin typeface="Trebuchet MS" pitchFamily="34" charset="0"/>
                </a:rPr>
                <a:t>PosterPresentations.com</a:t>
              </a:r>
              <a:r>
                <a:rPr lang="en-US" sz="2800" dirty="0" smtClean="0">
                  <a:solidFill>
                    <a:schemeClr val="bg1"/>
                  </a:solidFill>
                  <a:latin typeface="Trebuchet MS" pitchFamily="34" charset="0"/>
                </a:rPr>
                <a:t/>
              </a:r>
              <a:br>
                <a:rPr lang="en-US" sz="2800" dirty="0" smtClean="0">
                  <a:solidFill>
                    <a:schemeClr val="bg1"/>
                  </a:solidFill>
                  <a:latin typeface="Trebuchet MS" pitchFamily="34" charset="0"/>
                </a:rPr>
              </a:br>
              <a:endParaRPr lang="en-US" sz="2800" dirty="0" smtClean="0">
                <a:solidFill>
                  <a:schemeClr val="bg1"/>
                </a:solidFill>
                <a:latin typeface="Trebuchet MS" pitchFamily="34" charset="0"/>
              </a:endParaRPr>
            </a:p>
            <a:p>
              <a:pPr algn="l" defTabSz="3765639"/>
              <a:r>
                <a:rPr lang="en-US" sz="2800" b="0" dirty="0" smtClean="0">
                  <a:solidFill>
                    <a:schemeClr val="bg1"/>
                  </a:solidFill>
                  <a:latin typeface="Trebuchet MS" pitchFamily="34" charset="0"/>
                </a:rPr>
                <a:t>Need</a:t>
              </a:r>
              <a:r>
                <a:rPr lang="en-US" sz="2800" b="0" baseline="0" dirty="0" smtClean="0">
                  <a:solidFill>
                    <a:schemeClr val="bg1"/>
                  </a:solidFill>
                  <a:latin typeface="Trebuchet MS" pitchFamily="34" charset="0"/>
                </a:rPr>
                <a:t> assistance? Call us at </a:t>
              </a:r>
              <a:r>
                <a:rPr lang="en-US" sz="2800" b="0" dirty="0" smtClean="0">
                  <a:solidFill>
                    <a:srgbClr val="FFC000"/>
                  </a:solidFill>
                  <a:latin typeface="Trebuchet MS" pitchFamily="34" charset="0"/>
                </a:rPr>
                <a:t>1.510.649.3001</a:t>
              </a:r>
            </a:p>
            <a:p>
              <a:pPr algn="l" defTabSz="3765639"/>
              <a:endParaRPr lang="en-US" sz="3600" b="1" dirty="0" smtClean="0">
                <a:solidFill>
                  <a:srgbClr val="FFFF00"/>
                </a:solidFill>
                <a:latin typeface="Trebuchet MS" pitchFamily="34" charset="0"/>
              </a:endParaRPr>
            </a:p>
            <a:p>
              <a:pPr algn="ctr"/>
              <a:endParaRPr lang="en-US" sz="2400" b="1" dirty="0" smtClean="0">
                <a:solidFill>
                  <a:schemeClr val="bg1"/>
                </a:solidFill>
                <a:latin typeface="Trebuchet MS" pitchFamily="34" charset="0"/>
              </a:endParaRPr>
            </a:p>
            <a:p>
              <a:pPr algn="ctr"/>
              <a:r>
                <a:rPr lang="en-US" sz="4000" b="1" spc="600" dirty="0" smtClean="0">
                  <a:solidFill>
                    <a:schemeClr val="bg1"/>
                  </a:solidFill>
                  <a:latin typeface="Trebuchet MS" pitchFamily="34" charset="0"/>
                </a:rPr>
                <a:t>QUICK START</a:t>
              </a:r>
            </a:p>
            <a:p>
              <a:pPr algn="ctr"/>
              <a:endParaRPr lang="en-US" sz="3200" b="1" baseline="0" dirty="0" smtClean="0">
                <a:solidFill>
                  <a:schemeClr val="bg1"/>
                </a:solidFill>
                <a:latin typeface="Trebuchet MS" pitchFamily="34" charset="0"/>
              </a:endParaRPr>
            </a:p>
            <a:p>
              <a:pPr algn="ctr"/>
              <a:r>
                <a:rPr lang="en-US" sz="3200" b="1" baseline="0" dirty="0" smtClean="0">
                  <a:solidFill>
                    <a:srgbClr val="FFC000"/>
                  </a:solidFill>
                  <a:latin typeface="Trebuchet MS" pitchFamily="34" charset="0"/>
                </a:rPr>
                <a:t>Zoom in and out</a:t>
              </a:r>
            </a:p>
            <a:p>
              <a:pPr marL="1892300" indent="-1892300" algn="l" defTabSz="850900"/>
              <a:r>
                <a:rPr lang="en-US" sz="2400" b="0" baseline="0" dirty="0" smtClean="0">
                  <a:solidFill>
                    <a:schemeClr val="bg1"/>
                  </a:solidFill>
                  <a:latin typeface="Trebuchet MS" pitchFamily="34" charset="0"/>
                </a:rPr>
                <a:t>	</a:t>
              </a:r>
              <a:r>
                <a:rPr lang="en-US" sz="2400" b="0" baseline="0" dirty="0" smtClean="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smtClean="0">
                  <a:solidFill>
                    <a:schemeClr val="bg1">
                      <a:lumMod val="75000"/>
                    </a:schemeClr>
                  </a:solidFill>
                  <a:latin typeface="Trebuchet MS" pitchFamily="34" charset="0"/>
                </a:rPr>
                <a:t>	</a:t>
              </a:r>
              <a:r>
                <a:rPr lang="en-US" sz="2400" b="0" baseline="0" dirty="0" smtClean="0">
                  <a:solidFill>
                    <a:schemeClr val="bg1">
                      <a:lumMod val="75000"/>
                    </a:schemeClr>
                  </a:solidFill>
                  <a:latin typeface="Trebuchet MS" pitchFamily="34" charset="0"/>
                </a:rPr>
                <a:t>Go to VIEW &gt; ZOOM.</a:t>
              </a:r>
            </a:p>
            <a:p>
              <a:pPr algn="l"/>
              <a:endParaRPr lang="en-US" sz="2800" b="0" baseline="0" dirty="0" smtClean="0">
                <a:solidFill>
                  <a:schemeClr val="bg1"/>
                </a:solidFill>
                <a:latin typeface="Trebuchet MS" pitchFamily="34" charset="0"/>
              </a:endParaRPr>
            </a:p>
            <a:p>
              <a:pPr algn="ctr"/>
              <a:r>
                <a:rPr lang="en-US" sz="3200" b="1" baseline="0" dirty="0" smtClean="0">
                  <a:solidFill>
                    <a:srgbClr val="FFC000"/>
                  </a:solidFill>
                  <a:latin typeface="Trebuchet MS" pitchFamily="34" charset="0"/>
                </a:rPr>
                <a:t>Title, Authors, and Affiliations</a:t>
              </a:r>
            </a:p>
            <a:p>
              <a:pPr algn="l"/>
              <a:r>
                <a:rPr lang="en-US" sz="2400" b="0" baseline="0" dirty="0" smtClean="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smtClean="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smtClean="0">
                <a:solidFill>
                  <a:schemeClr val="bg1">
                    <a:lumMod val="75000"/>
                  </a:schemeClr>
                </a:solidFill>
                <a:latin typeface="Trebuchet MS" pitchFamily="34" charset="0"/>
              </a:endParaRPr>
            </a:p>
            <a:p>
              <a:pPr algn="l"/>
              <a:r>
                <a:rPr lang="en-US" sz="2400" b="1" spc="300" baseline="0" dirty="0" smtClean="0">
                  <a:solidFill>
                    <a:srgbClr val="FFC000"/>
                  </a:solidFill>
                  <a:latin typeface="Trebuchet MS" pitchFamily="34" charset="0"/>
                </a:rPr>
                <a:t>TIP</a:t>
              </a:r>
              <a:r>
                <a:rPr lang="en-US" sz="2400" b="1" baseline="0" dirty="0" smtClean="0">
                  <a:solidFill>
                    <a:srgbClr val="FFC000"/>
                  </a:solidFill>
                  <a:latin typeface="Trebuchet MS" pitchFamily="34" charset="0"/>
                </a:rPr>
                <a:t>: </a:t>
              </a:r>
              <a:r>
                <a:rPr lang="en-US" sz="2400" b="0" baseline="0" dirty="0" smtClean="0">
                  <a:solidFill>
                    <a:schemeClr val="bg1">
                      <a:lumMod val="75000"/>
                    </a:schemeClr>
                  </a:solidFill>
                  <a:latin typeface="Trebuchet MS" pitchFamily="34" charset="0"/>
                </a:rPr>
                <a:t>The font size of your title should be bigger than your name(s) and institution name(s).</a:t>
              </a:r>
            </a:p>
            <a:p>
              <a:pPr algn="l"/>
              <a:r>
                <a:rPr lang="en-US" sz="2800" b="1" baseline="0" dirty="0" smtClean="0">
                  <a:solidFill>
                    <a:schemeClr val="bg1"/>
                  </a:solidFill>
                  <a:latin typeface="Trebuchet MS" pitchFamily="34" charset="0"/>
                </a:rPr>
                <a:t/>
              </a:r>
              <a:br>
                <a:rPr lang="en-US" sz="2800" b="1" baseline="0" dirty="0" smtClean="0">
                  <a:solidFill>
                    <a:schemeClr val="bg1"/>
                  </a:solidFill>
                  <a:latin typeface="Trebuchet MS" pitchFamily="34" charset="0"/>
                </a:rPr>
              </a:br>
              <a:endParaRPr lang="en-US" sz="2800" b="1" dirty="0" smtClean="0">
                <a:solidFill>
                  <a:schemeClr val="bg1"/>
                </a:solidFill>
                <a:latin typeface="Trebuchet MS" pitchFamily="34" charset="0"/>
              </a:endParaRPr>
            </a:p>
            <a:p>
              <a:pPr algn="ctr"/>
              <a:endParaRPr lang="en-US" sz="2800" b="1" dirty="0" smtClean="0">
                <a:solidFill>
                  <a:srgbClr val="FFC000"/>
                </a:solidFill>
                <a:latin typeface="Trebuchet MS" pitchFamily="34" charset="0"/>
              </a:endParaRPr>
            </a:p>
            <a:p>
              <a:pPr algn="ctr"/>
              <a:endParaRPr lang="en-US" sz="2800" b="1" dirty="0" smtClean="0">
                <a:solidFill>
                  <a:srgbClr val="FFC000"/>
                </a:solidFill>
                <a:latin typeface="Trebuchet MS" pitchFamily="34" charset="0"/>
              </a:endParaRPr>
            </a:p>
            <a:p>
              <a:pPr algn="ctr"/>
              <a:r>
                <a:rPr lang="en-US" sz="3200" b="1" dirty="0" smtClean="0">
                  <a:solidFill>
                    <a:srgbClr val="FFC000"/>
                  </a:solidFill>
                  <a:latin typeface="Trebuchet MS" pitchFamily="34" charset="0"/>
                </a:rPr>
                <a:t>Adding Logos</a:t>
              </a:r>
              <a:r>
                <a:rPr lang="en-US" sz="3200" b="1" baseline="0" dirty="0" smtClean="0">
                  <a:solidFill>
                    <a:srgbClr val="FFC000"/>
                  </a:solidFill>
                  <a:latin typeface="Trebuchet MS" pitchFamily="34" charset="0"/>
                </a:rPr>
                <a:t> / Seals</a:t>
              </a:r>
            </a:p>
            <a:p>
              <a:pPr algn="l"/>
              <a:r>
                <a:rPr lang="en-US" sz="2400" b="0" baseline="0" dirty="0" smtClean="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smtClean="0">
                <a:solidFill>
                  <a:schemeClr val="bg1">
                    <a:lumMod val="75000"/>
                  </a:schemeClr>
                </a:solidFill>
                <a:latin typeface="Trebuchet MS" pitchFamily="34" charset="0"/>
              </a:endParaRPr>
            </a:p>
            <a:p>
              <a:pPr algn="l"/>
              <a:r>
                <a:rPr lang="en-US" sz="2400" b="1" spc="300" baseline="0" dirty="0" smtClean="0">
                  <a:solidFill>
                    <a:srgbClr val="FFC000"/>
                  </a:solidFill>
                  <a:latin typeface="Trebuchet MS" pitchFamily="34" charset="0"/>
                </a:rPr>
                <a:t>TIP:</a:t>
              </a:r>
              <a:r>
                <a:rPr lang="en-US" sz="2400" b="1" spc="0" baseline="0" dirty="0" smtClean="0">
                  <a:solidFill>
                    <a:srgbClr val="FFC000"/>
                  </a:solidFill>
                  <a:latin typeface="Trebuchet MS" pitchFamily="34" charset="0"/>
                </a:rPr>
                <a:t> </a:t>
              </a:r>
              <a:r>
                <a:rPr lang="en-US" sz="2400" b="0" baseline="0" dirty="0" smtClean="0">
                  <a:solidFill>
                    <a:schemeClr val="bg1">
                      <a:lumMod val="75000"/>
                    </a:schemeClr>
                  </a:solidFill>
                  <a:latin typeface="Trebuchet MS" pitchFamily="34" charset="0"/>
                </a:rPr>
                <a:t>See if your school’s logo is available on our free poster templates page.</a:t>
              </a:r>
            </a:p>
            <a:p>
              <a:pPr algn="l"/>
              <a:endParaRPr lang="en-US" sz="2400" b="0" baseline="0" dirty="0" smtClean="0">
                <a:latin typeface="Trebuchet MS" pitchFamily="34" charset="0"/>
              </a:endParaRPr>
            </a:p>
            <a:p>
              <a:pPr algn="ctr"/>
              <a:r>
                <a:rPr lang="en-US" sz="3200" b="1" baseline="0" dirty="0" smtClean="0">
                  <a:solidFill>
                    <a:srgbClr val="FFC000"/>
                  </a:solidFill>
                  <a:latin typeface="Trebuchet MS" pitchFamily="34" charset="0"/>
                </a:rPr>
                <a:t>Photographs / Graphics</a:t>
              </a:r>
            </a:p>
            <a:p>
              <a:pPr algn="l" defTabSz="977900"/>
              <a:r>
                <a:rPr lang="en-US" sz="2400" b="0" baseline="0" dirty="0" smtClean="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smtClean="0">
                  <a:solidFill>
                    <a:schemeClr val="bg1">
                      <a:lumMod val="75000"/>
                    </a:schemeClr>
                  </a:solidFill>
                  <a:latin typeface="Trebuchet MS" pitchFamily="34" charset="0"/>
                </a:rPr>
                <a:t>disproportionally.</a:t>
              </a:r>
            </a:p>
            <a:p>
              <a:pPr algn="l" defTabSz="977900"/>
              <a:endParaRPr lang="en-US" sz="2400" b="0" baseline="0" dirty="0" smtClean="0">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r>
                <a:rPr lang="en-US" sz="3200" b="1" baseline="0" dirty="0" smtClean="0">
                  <a:solidFill>
                    <a:srgbClr val="FFC000"/>
                  </a:solidFill>
                  <a:latin typeface="Trebuchet MS" pitchFamily="34" charset="0"/>
                </a:rPr>
                <a:t>Image Quality Check</a:t>
              </a:r>
            </a:p>
            <a:p>
              <a:pPr lvl="0" algn="l" defTabSz="977900"/>
              <a:r>
                <a:rPr lang="en-US" sz="2400" b="0" baseline="0" dirty="0" smtClean="0">
                  <a:solidFill>
                    <a:schemeClr val="bg1">
                      <a:lumMod val="75000"/>
                    </a:schemeClr>
                  </a:solidFill>
                  <a:latin typeface="Trebuchet MS" pitchFamily="34" charset="0"/>
                </a:rPr>
                <a:t>Zoom in and look at your images at 100% magnification. If they look good they will print well. </a:t>
              </a:r>
              <a:endParaRPr lang="en-US" sz="2800" b="0" dirty="0" smtClean="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1"/>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2"/>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3"/>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smtClean="0">
                      <a:solidFill>
                        <a:schemeClr val="tx1"/>
                      </a:solidFill>
                    </a:rPr>
                    <a:t>ORIGINAL</a:t>
                  </a:r>
                  <a:endParaRPr lang="en-US" sz="1600" b="1" dirty="0">
                    <a:solidFill>
                      <a:schemeClr val="tx1"/>
                    </a:solidFill>
                  </a:endParaRP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3"/>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smtClean="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4"/>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smtClean="0">
                    <a:solidFill>
                      <a:schemeClr val="bg1"/>
                    </a:solidFill>
                  </a:rPr>
                  <a:t>Corner</a:t>
                </a:r>
                <a:r>
                  <a:rPr lang="en-US" sz="1600" baseline="0" dirty="0" smtClean="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spid="_x0000_s2325" name="Image" r:id="rId15" imgW="1828440" imgH="1117440" progId="Photoshop.Image.13">
                      <p:embed/>
                    </p:oleObj>
                  </mc:Choice>
                  <mc:Fallback>
                    <p:oleObj name="Image" r:id="rId15" imgW="1828440" imgH="1117440" progId="Photoshop.Image.13">
                      <p:embed/>
                      <p:pic>
                        <p:nvPicPr>
                          <p:cNvPr id="0" name=""/>
                          <p:cNvPicPr/>
                          <p:nvPr/>
                        </p:nvPicPr>
                        <p:blipFill>
                          <a:blip r:embed="rId16"/>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spid="_x0000_s2326" name="Image" r:id="rId17" imgW="1828440" imgH="1117440" progId="Photoshop.Image.13">
                      <p:embed/>
                    </p:oleObj>
                  </mc:Choice>
                  <mc:Fallback>
                    <p:oleObj name="Image" r:id="rId17" imgW="1828440" imgH="1117440" progId="Photoshop.Image.13">
                      <p:embed/>
                      <p:pic>
                        <p:nvPicPr>
                          <p:cNvPr id="0" name=""/>
                          <p:cNvPicPr/>
                          <p:nvPr/>
                        </p:nvPicPr>
                        <p:blipFill>
                          <a:blip r:embed="rId18"/>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smtClean="0">
                    <a:solidFill>
                      <a:srgbClr val="92D050"/>
                    </a:solidFill>
                  </a:rPr>
                  <a:t>Good</a:t>
                </a:r>
                <a:r>
                  <a:rPr lang="en-US" sz="1600" baseline="0" dirty="0" smtClean="0">
                    <a:solidFill>
                      <a:srgbClr val="92D050"/>
                    </a:solidFill>
                  </a:rPr>
                  <a:t> </a:t>
                </a:r>
                <a:r>
                  <a:rPr lang="en-US" sz="1600" baseline="0" dirty="0" smtClean="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smtClean="0">
                    <a:solidFill>
                      <a:srgbClr val="FF0000"/>
                    </a:solidFill>
                  </a:rPr>
                  <a:t>Bad </a:t>
                </a:r>
                <a:r>
                  <a:rPr lang="en-US" sz="1600" dirty="0" smtClean="0">
                    <a:solidFill>
                      <a:schemeClr val="bg1"/>
                    </a:solidFill>
                  </a:rPr>
                  <a:t>printing quality</a:t>
                </a:r>
                <a:endParaRPr lang="en-US" sz="1600" dirty="0">
                  <a:solidFill>
                    <a:schemeClr val="bg1"/>
                  </a:solidFill>
                </a:endParaRP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smtClean="0">
                <a:solidFill>
                  <a:schemeClr val="bg1">
                    <a:lumMod val="75000"/>
                  </a:schemeClr>
                </a:solidFill>
                <a:latin typeface="Arial" charset="0"/>
              </a:rPr>
              <a:t>RESEARCH POSTER PRESENTATION </a:t>
            </a:r>
            <a:r>
              <a:rPr lang="en-US" sz="500" b="1" dirty="0">
                <a:solidFill>
                  <a:schemeClr val="bg1">
                    <a:lumMod val="75000"/>
                  </a:schemeClr>
                </a:solidFill>
                <a:latin typeface="Arial" charset="0"/>
              </a:rPr>
              <a:t>DESIGN © </a:t>
            </a:r>
            <a:r>
              <a:rPr lang="en-US" sz="500" b="1" dirty="0" smtClean="0">
                <a:solidFill>
                  <a:schemeClr val="bg1">
                    <a:lumMod val="75000"/>
                  </a:schemeClr>
                </a:solidFill>
                <a:latin typeface="Arial" charset="0"/>
              </a:rPr>
              <a:t>2015</a:t>
            </a:r>
            <a:endParaRPr lang="en-US" sz="500" b="1" dirty="0">
              <a:solidFill>
                <a:schemeClr val="bg1">
                  <a:lumMod val="75000"/>
                </a:schemeClr>
              </a:solidFill>
              <a:latin typeface="Arial" charset="0"/>
            </a:endParaRP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iming>
    <p:tnLst>
      <p:par>
        <p:cTn xmlns:p14="http://schemas.microsoft.com/office/powerpoint/2010/main" id="1" dur="indefinite" restart="never" nodeType="tmRoot"/>
      </p:par>
    </p:tnLst>
  </p:timing>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smtClean="0">
                  <a:solidFill>
                    <a:schemeClr val="bg1"/>
                  </a:solidFill>
                  <a:latin typeface="Trebuchet MS" pitchFamily="34" charset="0"/>
                </a:rPr>
                <a:t>QUICK START (cont.)</a:t>
              </a:r>
            </a:p>
            <a:p>
              <a:pPr algn="ctr"/>
              <a:endParaRPr lang="en-US" sz="3600" b="1" baseline="0" dirty="0" smtClean="0">
                <a:solidFill>
                  <a:schemeClr val="bg1"/>
                </a:solidFill>
                <a:latin typeface="Trebuchet MS" pitchFamily="34" charset="0"/>
              </a:endParaRPr>
            </a:p>
            <a:p>
              <a:pPr algn="ctr"/>
              <a:r>
                <a:rPr lang="en-US" sz="3200" b="1" baseline="0" dirty="0" smtClean="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smtClean="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smtClean="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endParaRPr lang="en-US" sz="2400" b="0" baseline="0" dirty="0" smtClean="0">
                <a:solidFill>
                  <a:schemeClr val="bg1">
                    <a:lumMod val="75000"/>
                  </a:schemeClr>
                </a:solidFill>
                <a:latin typeface="Trebuchet MS" pitchFamily="34" charset="0"/>
              </a:endParaRPr>
            </a:p>
            <a:p>
              <a:pPr marL="0" indent="0" algn="l" defTabSz="114300"/>
              <a:r>
                <a:rPr lang="en-US" sz="2400" b="0" baseline="0" dirty="0" smtClean="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smtClean="0">
                <a:solidFill>
                  <a:schemeClr val="bg1">
                    <a:lumMod val="75000"/>
                  </a:schemeClr>
                </a:solidFill>
                <a:latin typeface="Trebuchet MS" pitchFamily="34" charset="0"/>
              </a:endParaRPr>
            </a:p>
            <a:p>
              <a:pPr algn="ctr"/>
              <a:r>
                <a:rPr lang="en-US" sz="3200" b="1" baseline="0" dirty="0" smtClean="0">
                  <a:solidFill>
                    <a:srgbClr val="FFC000"/>
                  </a:solidFill>
                  <a:latin typeface="Trebuchet MS" pitchFamily="34" charset="0"/>
                </a:rPr>
                <a:t>How to add Text</a:t>
              </a:r>
            </a:p>
            <a:p>
              <a:pPr marL="3265488" lvl="2" indent="0" algn="l" defTabSz="114300"/>
              <a:r>
                <a:rPr lang="en-US" sz="2400" b="0" baseline="0" dirty="0" smtClean="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smtClean="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smtClean="0">
                  <a:solidFill>
                    <a:schemeClr val="bg1">
                      <a:lumMod val="75000"/>
                    </a:schemeClr>
                  </a:solidFill>
                  <a:latin typeface="Trebuchet MS" pitchFamily="34" charset="0"/>
                </a:rPr>
                <a:t> </a:t>
              </a:r>
              <a:r>
                <a:rPr kumimoji="0" lang="en-US" sz="3200" b="1" i="0" u="none" strike="noStrike" kern="1200" cap="none" spc="0" normalizeH="0" baseline="0" noProof="0" dirty="0" smtClean="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smtClean="0">
                <a:solidFill>
                  <a:schemeClr val="bg1">
                    <a:lumMod val="75000"/>
                  </a:schemeClr>
                </a:solidFill>
                <a:latin typeface="Trebuchet MS" pitchFamily="34" charset="0"/>
              </a:endParaRPr>
            </a:p>
            <a:p>
              <a:pPr marL="1518341" lvl="2" indent="0" algn="l" defTabSz="114300"/>
              <a:endParaRPr lang="en-US" sz="2400" b="0" baseline="0" dirty="0" smtClean="0">
                <a:solidFill>
                  <a:schemeClr val="bg1">
                    <a:lumMod val="75000"/>
                  </a:schemeClr>
                </a:solidFill>
                <a:latin typeface="Trebuchet MS" pitchFamily="34" charset="0"/>
              </a:endParaRPr>
            </a:p>
            <a:p>
              <a:pPr algn="ctr"/>
              <a:r>
                <a:rPr lang="en-US" sz="3200" b="1" baseline="0" dirty="0" smtClean="0">
                  <a:solidFill>
                    <a:srgbClr val="FFC000"/>
                  </a:solidFill>
                  <a:latin typeface="Trebuchet MS" pitchFamily="34" charset="0"/>
                </a:rPr>
                <a:t>How to add Tables</a:t>
              </a:r>
            </a:p>
            <a:p>
              <a:pPr marL="1730375" lvl="1" indent="0" algn="l" defTabSz="114300"/>
              <a:r>
                <a:rPr lang="en-US" sz="2400" b="0" baseline="0" dirty="0" smtClean="0">
                  <a:solidFill>
                    <a:schemeClr val="bg1">
                      <a:lumMod val="75000"/>
                    </a:schemeClr>
                  </a:solidFill>
                  <a:latin typeface="Trebuchet MS" pitchFamily="34" charset="0"/>
                </a:rPr>
                <a:t>To add a table from scratch go to the INSERT menu and </a:t>
              </a:r>
              <a:br>
                <a:rPr lang="en-US" sz="2400" b="0" baseline="0" dirty="0" smtClean="0">
                  <a:solidFill>
                    <a:schemeClr val="bg1">
                      <a:lumMod val="75000"/>
                    </a:schemeClr>
                  </a:solidFill>
                  <a:latin typeface="Trebuchet MS" pitchFamily="34" charset="0"/>
                </a:rPr>
              </a:br>
              <a:r>
                <a:rPr lang="en-US" sz="2400" b="0" baseline="0" dirty="0" smtClean="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smtClean="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smtClean="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smtClean="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smtClean="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smtClean="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smtClean="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spid="_x0000_s3347" name="Image" r:id="rId4" imgW="4571280" imgH="1688760" progId="Photoshop.Image.13">
                    <p:embed/>
                  </p:oleObj>
                </mc:Choice>
                <mc:Fallback>
                  <p:oleObj name="Image" r:id="rId4" imgW="4571280" imgH="1688760" progId="Photoshop.Image.13">
                    <p:embed/>
                    <p:pic>
                      <p:nvPicPr>
                        <p:cNvPr id="0" name=""/>
                        <p:cNvPicPr/>
                        <p:nvPr/>
                      </p:nvPicPr>
                      <p:blipFill>
                        <a:blip r:embed="rId5"/>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6"/>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spid="_x0000_s3348" name="Image" r:id="rId7" imgW="1574280" imgH="1053720" progId="Photoshop.Image.13">
                    <p:embed/>
                  </p:oleObj>
                </mc:Choice>
                <mc:Fallback>
                  <p:oleObj name="Image" r:id="rId7" imgW="1574280" imgH="1053720" progId="Photoshop.Image.13">
                    <p:embed/>
                    <p:pic>
                      <p:nvPicPr>
                        <p:cNvPr id="0" name=""/>
                        <p:cNvPicPr/>
                        <p:nvPr/>
                      </p:nvPicPr>
                      <p:blipFill>
                        <a:blip r:embed="rId8"/>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9"/>
              </p:cNvPr>
              <p:cNvPicPr>
                <a:picLocks noChangeAspect="1" noChangeArrowheads="1"/>
              </p:cNvPicPr>
              <p:nvPr userDrawn="1"/>
            </p:nvPicPr>
            <p:blipFill>
              <a:blip r:embed="rId10"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smtClean="0">
                    <a:solidFill>
                      <a:schemeClr val="tx2"/>
                    </a:solidFill>
                    <a:latin typeface="Trebuchet MS" pitchFamily="34" charset="0"/>
                  </a:rPr>
                  <a:t>Student</a:t>
                </a:r>
                <a:r>
                  <a:rPr lang="en-US" sz="2400" baseline="0" dirty="0" smtClean="0">
                    <a:solidFill>
                      <a:schemeClr val="tx2"/>
                    </a:solidFill>
                    <a:latin typeface="Trebuchet MS" pitchFamily="34" charset="0"/>
                  </a:rPr>
                  <a:t> discounts are available on our </a:t>
                </a:r>
                <a:r>
                  <a:rPr lang="en-US" sz="2400" baseline="0" dirty="0" err="1" smtClean="0">
                    <a:solidFill>
                      <a:schemeClr val="tx2"/>
                    </a:solidFill>
                    <a:latin typeface="Trebuchet MS" pitchFamily="34" charset="0"/>
                  </a:rPr>
                  <a:t>Facebook</a:t>
                </a:r>
                <a:r>
                  <a:rPr lang="en-US" sz="2400" baseline="0" dirty="0" smtClean="0">
                    <a:solidFill>
                      <a:schemeClr val="tx2"/>
                    </a:solidFill>
                    <a:latin typeface="Trebuchet MS" pitchFamily="34" charset="0"/>
                  </a:rPr>
                  <a:t> page.</a:t>
                </a:r>
                <a:br>
                  <a:rPr lang="en-US" sz="2400" baseline="0" dirty="0" smtClean="0">
                    <a:solidFill>
                      <a:schemeClr val="tx2"/>
                    </a:solidFill>
                    <a:latin typeface="Trebuchet MS" pitchFamily="34" charset="0"/>
                  </a:rPr>
                </a:br>
                <a:r>
                  <a:rPr lang="en-US" sz="2400" baseline="0" dirty="0" smtClean="0">
                    <a:solidFill>
                      <a:schemeClr val="tx2"/>
                    </a:solidFill>
                    <a:latin typeface="Trebuchet MS" pitchFamily="34" charset="0"/>
                  </a:rPr>
                  <a:t>Go to </a:t>
                </a:r>
                <a:r>
                  <a:rPr lang="en-US" sz="2400" u="sng" baseline="0" dirty="0" smtClean="0">
                    <a:solidFill>
                      <a:schemeClr val="tx2"/>
                    </a:solidFill>
                    <a:latin typeface="Trebuchet MS" pitchFamily="34" charset="0"/>
                  </a:rPr>
                  <a:t>PosterPresentations.com</a:t>
                </a:r>
                <a:r>
                  <a:rPr lang="en-US" sz="2400" baseline="0" dirty="0" smtClean="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smtClean="0">
                  <a:solidFill>
                    <a:schemeClr val="bg1"/>
                  </a:solidFill>
                </a:rPr>
                <a:t>© 2015</a:t>
              </a:r>
              <a:r>
                <a:rPr lang="en-US" sz="2800" baseline="0" dirty="0" smtClean="0">
                  <a:solidFill>
                    <a:schemeClr val="bg1"/>
                  </a:solidFill>
                </a:rPr>
                <a:t> </a:t>
              </a:r>
              <a:r>
                <a:rPr lang="en-US" sz="2800" dirty="0" smtClean="0">
                  <a:solidFill>
                    <a:schemeClr val="bg1"/>
                  </a:solidFill>
                </a:rPr>
                <a:t>PosterPresentations.com</a:t>
              </a:r>
              <a:br>
                <a:rPr lang="en-US" sz="2800" dirty="0" smtClean="0">
                  <a:solidFill>
                    <a:schemeClr val="bg1"/>
                  </a:solidFill>
                </a:rPr>
              </a:br>
              <a:r>
                <a:rPr lang="en-US" sz="2800" dirty="0" smtClean="0">
                  <a:solidFill>
                    <a:schemeClr val="bg1"/>
                  </a:solidFill>
                </a:rPr>
                <a:t>    </a:t>
              </a:r>
              <a:r>
                <a:rPr lang="en-US" sz="2400" dirty="0" smtClean="0">
                  <a:solidFill>
                    <a:schemeClr val="bg1"/>
                  </a:solidFill>
                </a:rPr>
                <a:t>2117 Fourth Street ,</a:t>
              </a:r>
              <a:r>
                <a:rPr lang="en-US" sz="2400" baseline="0" dirty="0" smtClean="0">
                  <a:solidFill>
                    <a:schemeClr val="bg1"/>
                  </a:solidFill>
                </a:rPr>
                <a:t> Unit C        </a:t>
              </a:r>
            </a:p>
            <a:p>
              <a:pPr>
                <a:lnSpc>
                  <a:spcPts val="2600"/>
                </a:lnSpc>
              </a:pPr>
              <a:r>
                <a:rPr lang="en-US" sz="2400" baseline="0" dirty="0" smtClean="0">
                  <a:solidFill>
                    <a:schemeClr val="bg1"/>
                  </a:solidFill>
                </a:rPr>
                <a:t>     Berkeley CA </a:t>
              </a:r>
              <a:r>
                <a:rPr lang="en-US" sz="2000" baseline="0" dirty="0" smtClean="0">
                  <a:solidFill>
                    <a:schemeClr val="bg1"/>
                  </a:solidFill>
                </a:rPr>
                <a:t>94710</a:t>
              </a:r>
              <a:r>
                <a:rPr lang="en-US" sz="2400" baseline="0" dirty="0" smtClean="0">
                  <a:solidFill>
                    <a:schemeClr val="bg1"/>
                  </a:solidFill>
                </a:rPr>
                <a:t/>
              </a:r>
              <a:br>
                <a:rPr lang="en-US" sz="2400" baseline="0" dirty="0" smtClean="0">
                  <a:solidFill>
                    <a:schemeClr val="bg1"/>
                  </a:solidFill>
                </a:rPr>
              </a:br>
              <a:r>
                <a:rPr lang="en-US" sz="2400" baseline="0" dirty="0" smtClean="0">
                  <a:solidFill>
                    <a:schemeClr val="bg1"/>
                  </a:solidFill>
                </a:rPr>
                <a:t>    </a:t>
              </a:r>
              <a:r>
                <a:rPr lang="en-US" sz="2400" b="1" baseline="0" dirty="0" smtClean="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smtClean="0">
                  <a:solidFill>
                    <a:srgbClr val="FF0000"/>
                  </a:solidFill>
                  <a:latin typeface="Trebuchet MS" pitchFamily="34" charset="0"/>
                </a:rPr>
                <a:t>(—THIS SIDEBAR DOES NOT PRINT—)</a:t>
              </a:r>
              <a:endParaRPr lang="en-US" sz="3200" b="1" spc="600" dirty="0" smtClean="0">
                <a:solidFill>
                  <a:schemeClr val="bg1"/>
                </a:solidFill>
                <a:latin typeface="Trebuchet MS" pitchFamily="34" charset="0"/>
              </a:endParaRPr>
            </a:p>
            <a:p>
              <a:pPr algn="ctr"/>
              <a:r>
                <a:rPr lang="en-US" sz="4000" b="1" spc="600" dirty="0" smtClean="0">
                  <a:solidFill>
                    <a:schemeClr val="bg1"/>
                  </a:solidFill>
                  <a:latin typeface="Trebuchet MS" pitchFamily="34" charset="0"/>
                </a:rPr>
                <a:t>DESIGN</a:t>
              </a:r>
              <a:r>
                <a:rPr lang="en-US" sz="4000" b="1" spc="600" baseline="0" dirty="0" smtClean="0">
                  <a:solidFill>
                    <a:schemeClr val="bg1"/>
                  </a:solidFill>
                  <a:latin typeface="Trebuchet MS" pitchFamily="34" charset="0"/>
                </a:rPr>
                <a:t> </a:t>
              </a:r>
              <a:r>
                <a:rPr lang="en-US" sz="4000" b="1" spc="600" dirty="0" smtClean="0">
                  <a:solidFill>
                    <a:schemeClr val="bg1"/>
                  </a:solidFill>
                  <a:latin typeface="Trebuchet MS" pitchFamily="34" charset="0"/>
                </a:rPr>
                <a:t>GUIDE</a:t>
              </a:r>
            </a:p>
            <a:p>
              <a:pPr algn="ctr"/>
              <a:endParaRPr lang="en-US" sz="2800" b="1" dirty="0" smtClean="0">
                <a:latin typeface="Trebuchet MS" pitchFamily="34" charset="0"/>
              </a:endParaRPr>
            </a:p>
            <a:p>
              <a:pPr defTabSz="3765639"/>
              <a:r>
                <a:rPr lang="en-US" sz="2800" i="0" dirty="0" smtClean="0">
                  <a:latin typeface="Trebuchet MS" pitchFamily="34" charset="0"/>
                </a:rPr>
                <a:t>This PowerPoint</a:t>
              </a:r>
              <a:r>
                <a:rPr lang="en-US" sz="2800" i="0" baseline="0" dirty="0" smtClean="0">
                  <a:latin typeface="Trebuchet MS" pitchFamily="34" charset="0"/>
                </a:rPr>
                <a:t> </a:t>
              </a:r>
              <a:r>
                <a:rPr lang="en-US" sz="2800" i="0" dirty="0" smtClean="0">
                  <a:latin typeface="Trebuchet MS" pitchFamily="34" charset="0"/>
                </a:rPr>
                <a:t>2007 template produces</a:t>
              </a:r>
              <a:r>
                <a:rPr lang="en-US" sz="2800" i="0" baseline="0" dirty="0" smtClean="0">
                  <a:latin typeface="Trebuchet MS" pitchFamily="34" charset="0"/>
                </a:rPr>
                <a:t> </a:t>
              </a:r>
              <a:r>
                <a:rPr lang="en-US" sz="2800" i="0" dirty="0" smtClean="0">
                  <a:latin typeface="Trebuchet MS" pitchFamily="34" charset="0"/>
                </a:rPr>
                <a:t>a 36”x48” presentation poster. </a:t>
              </a:r>
              <a:r>
                <a:rPr lang="en-US" sz="2800" dirty="0" smtClean="0">
                  <a:latin typeface="Trebuchet MS" pitchFamily="34" charset="0"/>
                </a:rPr>
                <a:t>You</a:t>
              </a:r>
              <a:r>
                <a:rPr lang="en-US" sz="2800" baseline="0" dirty="0" smtClean="0">
                  <a:latin typeface="Trebuchet MS" pitchFamily="34" charset="0"/>
                </a:rPr>
                <a:t> can u</a:t>
              </a:r>
              <a:r>
                <a:rPr lang="en-US" sz="2800" dirty="0" smtClean="0">
                  <a:latin typeface="Trebuchet MS" pitchFamily="34" charset="0"/>
                </a:rPr>
                <a:t>se</a:t>
              </a:r>
              <a:r>
                <a:rPr lang="en-US" sz="2800" baseline="0" dirty="0" smtClean="0">
                  <a:latin typeface="Trebuchet MS" pitchFamily="34" charset="0"/>
                </a:rPr>
                <a:t> it to create your research poster and </a:t>
              </a:r>
              <a:r>
                <a:rPr lang="en-US" sz="2800" dirty="0" smtClean="0">
                  <a:latin typeface="Trebuchet MS" pitchFamily="34" charset="0"/>
                </a:rPr>
                <a:t>save valuable time placing titles, subtitles,</a:t>
              </a:r>
              <a:r>
                <a:rPr lang="en-US" sz="2800" baseline="0" dirty="0" smtClean="0">
                  <a:latin typeface="Trebuchet MS" pitchFamily="34" charset="0"/>
                </a:rPr>
                <a:t> text, and graphics</a:t>
              </a:r>
              <a:r>
                <a:rPr lang="en-US" sz="2800" dirty="0" smtClean="0">
                  <a:latin typeface="Trebuchet MS" pitchFamily="34" charset="0"/>
                </a:rPr>
                <a:t>. </a:t>
              </a:r>
            </a:p>
            <a:p>
              <a:pPr defTabSz="3765639"/>
              <a:endParaRPr lang="en-US" sz="2800" dirty="0" smtClean="0">
                <a:latin typeface="Trebuchet MS" pitchFamily="34" charset="0"/>
              </a:endParaRPr>
            </a:p>
            <a:p>
              <a:pPr defTabSz="4389219"/>
              <a:r>
                <a:rPr lang="en-US" sz="2800" dirty="0" smtClean="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smtClean="0">
                  <a:solidFill>
                    <a:srgbClr val="FFC000"/>
                  </a:solidFill>
                  <a:latin typeface="Trebuchet MS" pitchFamily="34" charset="0"/>
                </a:rPr>
                <a:t>PosterPresentations.com</a:t>
              </a:r>
              <a:r>
                <a:rPr lang="en-US" sz="2800" b="1" dirty="0" smtClean="0">
                  <a:solidFill>
                    <a:schemeClr val="bg1"/>
                  </a:solidFill>
                  <a:latin typeface="Trebuchet MS" pitchFamily="34" charset="0"/>
                </a:rPr>
                <a:t> </a:t>
              </a:r>
              <a:r>
                <a:rPr lang="en-US" sz="2800" dirty="0" smtClean="0">
                  <a:solidFill>
                    <a:schemeClr val="bg1"/>
                  </a:solidFill>
                  <a:latin typeface="Trebuchet MS" pitchFamily="34" charset="0"/>
                </a:rPr>
                <a:t>and click on HELP DESK.</a:t>
              </a:r>
            </a:p>
            <a:p>
              <a:pPr defTabSz="4389219"/>
              <a:endParaRPr lang="en-US" sz="2800" dirty="0" smtClean="0">
                <a:latin typeface="Trebuchet MS" pitchFamily="34" charset="0"/>
              </a:endParaRPr>
            </a:p>
            <a:p>
              <a:pPr defTabSz="4389219"/>
              <a:r>
                <a:rPr lang="en-US" sz="2800" dirty="0" smtClean="0">
                  <a:solidFill>
                    <a:schemeClr val="bg1"/>
                  </a:solidFill>
                  <a:latin typeface="Trebuchet MS" pitchFamily="34" charset="0"/>
                </a:rPr>
                <a:t>When</a:t>
              </a:r>
              <a:r>
                <a:rPr lang="en-US" sz="2800" baseline="0" dirty="0" smtClean="0">
                  <a:solidFill>
                    <a:schemeClr val="bg1"/>
                  </a:solidFill>
                  <a:latin typeface="Trebuchet MS" pitchFamily="34" charset="0"/>
                </a:rPr>
                <a:t> you are ready to print your poster</a:t>
              </a:r>
              <a:r>
                <a:rPr lang="en-US" sz="2800" dirty="0" smtClean="0">
                  <a:solidFill>
                    <a:schemeClr val="bg1"/>
                  </a:solidFill>
                  <a:latin typeface="Trebuchet MS" pitchFamily="34" charset="0"/>
                </a:rPr>
                <a:t>,</a:t>
              </a:r>
              <a:r>
                <a:rPr lang="en-US" sz="2800" baseline="0" dirty="0" smtClean="0">
                  <a:solidFill>
                    <a:schemeClr val="bg1"/>
                  </a:solidFill>
                  <a:latin typeface="Trebuchet MS" pitchFamily="34" charset="0"/>
                </a:rPr>
                <a:t> go online to </a:t>
              </a:r>
              <a:r>
                <a:rPr lang="en-US" sz="2800" b="0" dirty="0" smtClean="0">
                  <a:solidFill>
                    <a:schemeClr val="bg1"/>
                  </a:solidFill>
                  <a:latin typeface="Trebuchet MS" pitchFamily="34" charset="0"/>
                </a:rPr>
                <a:t>PosterPresentations.com</a:t>
              </a:r>
              <a:r>
                <a:rPr lang="en-US" sz="2800" dirty="0" smtClean="0">
                  <a:solidFill>
                    <a:schemeClr val="bg1"/>
                  </a:solidFill>
                  <a:latin typeface="Trebuchet MS" pitchFamily="34" charset="0"/>
                </a:rPr>
                <a:t/>
              </a:r>
              <a:br>
                <a:rPr lang="en-US" sz="2800" dirty="0" smtClean="0">
                  <a:solidFill>
                    <a:schemeClr val="bg1"/>
                  </a:solidFill>
                  <a:latin typeface="Trebuchet MS" pitchFamily="34" charset="0"/>
                </a:rPr>
              </a:br>
              <a:endParaRPr lang="en-US" sz="2800" dirty="0" smtClean="0">
                <a:solidFill>
                  <a:schemeClr val="bg1"/>
                </a:solidFill>
                <a:latin typeface="Trebuchet MS" pitchFamily="34" charset="0"/>
              </a:endParaRPr>
            </a:p>
            <a:p>
              <a:pPr algn="l" defTabSz="3765639"/>
              <a:r>
                <a:rPr lang="en-US" sz="2800" b="0" dirty="0" smtClean="0">
                  <a:solidFill>
                    <a:schemeClr val="bg1"/>
                  </a:solidFill>
                  <a:latin typeface="Trebuchet MS" pitchFamily="34" charset="0"/>
                </a:rPr>
                <a:t>Need</a:t>
              </a:r>
              <a:r>
                <a:rPr lang="en-US" sz="2800" b="0" baseline="0" dirty="0" smtClean="0">
                  <a:solidFill>
                    <a:schemeClr val="bg1"/>
                  </a:solidFill>
                  <a:latin typeface="Trebuchet MS" pitchFamily="34" charset="0"/>
                </a:rPr>
                <a:t> assistance? Call us at </a:t>
              </a:r>
              <a:r>
                <a:rPr lang="en-US" sz="2800" b="0" dirty="0" smtClean="0">
                  <a:solidFill>
                    <a:srgbClr val="FFC000"/>
                  </a:solidFill>
                  <a:latin typeface="Trebuchet MS" pitchFamily="34" charset="0"/>
                </a:rPr>
                <a:t>1.510.649.3001</a:t>
              </a:r>
            </a:p>
            <a:p>
              <a:pPr algn="l" defTabSz="3765639"/>
              <a:endParaRPr lang="en-US" sz="3600" b="1" dirty="0" smtClean="0">
                <a:solidFill>
                  <a:srgbClr val="FFFF00"/>
                </a:solidFill>
                <a:latin typeface="Trebuchet MS" pitchFamily="34" charset="0"/>
              </a:endParaRPr>
            </a:p>
            <a:p>
              <a:pPr algn="ctr"/>
              <a:endParaRPr lang="en-US" sz="2400" b="1" dirty="0" smtClean="0">
                <a:solidFill>
                  <a:schemeClr val="bg1"/>
                </a:solidFill>
                <a:latin typeface="Trebuchet MS" pitchFamily="34" charset="0"/>
              </a:endParaRPr>
            </a:p>
            <a:p>
              <a:pPr algn="ctr"/>
              <a:r>
                <a:rPr lang="en-US" sz="4000" b="1" spc="600" dirty="0" smtClean="0">
                  <a:solidFill>
                    <a:schemeClr val="bg1"/>
                  </a:solidFill>
                  <a:latin typeface="Trebuchet MS" pitchFamily="34" charset="0"/>
                </a:rPr>
                <a:t>QUICK START</a:t>
              </a:r>
            </a:p>
            <a:p>
              <a:pPr algn="ctr"/>
              <a:endParaRPr lang="en-US" sz="3200" b="1" baseline="0" dirty="0" smtClean="0">
                <a:solidFill>
                  <a:schemeClr val="bg1"/>
                </a:solidFill>
                <a:latin typeface="Trebuchet MS" pitchFamily="34" charset="0"/>
              </a:endParaRPr>
            </a:p>
            <a:p>
              <a:pPr algn="ctr"/>
              <a:r>
                <a:rPr lang="en-US" sz="3200" b="1" baseline="0" dirty="0" smtClean="0">
                  <a:solidFill>
                    <a:srgbClr val="FFC000"/>
                  </a:solidFill>
                  <a:latin typeface="Trebuchet MS" pitchFamily="34" charset="0"/>
                </a:rPr>
                <a:t>Zoom in and out</a:t>
              </a:r>
            </a:p>
            <a:p>
              <a:pPr marL="1892300" indent="-1892300" algn="l" defTabSz="850900"/>
              <a:r>
                <a:rPr lang="en-US" sz="2400" b="0" baseline="0" dirty="0" smtClean="0">
                  <a:solidFill>
                    <a:schemeClr val="bg1"/>
                  </a:solidFill>
                  <a:latin typeface="Trebuchet MS" pitchFamily="34" charset="0"/>
                </a:rPr>
                <a:t>	</a:t>
              </a:r>
              <a:r>
                <a:rPr lang="en-US" sz="2400" b="0" baseline="0" dirty="0" smtClean="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smtClean="0">
                  <a:solidFill>
                    <a:schemeClr val="bg1">
                      <a:lumMod val="75000"/>
                    </a:schemeClr>
                  </a:solidFill>
                  <a:latin typeface="Trebuchet MS" pitchFamily="34" charset="0"/>
                </a:rPr>
                <a:t>	</a:t>
              </a:r>
              <a:r>
                <a:rPr lang="en-US" sz="2400" b="0" baseline="0" dirty="0" smtClean="0">
                  <a:solidFill>
                    <a:schemeClr val="bg1">
                      <a:lumMod val="75000"/>
                    </a:schemeClr>
                  </a:solidFill>
                  <a:latin typeface="Trebuchet MS" pitchFamily="34" charset="0"/>
                </a:rPr>
                <a:t>Go to VIEW &gt; ZOOM.</a:t>
              </a:r>
            </a:p>
            <a:p>
              <a:pPr algn="l"/>
              <a:endParaRPr lang="en-US" sz="2800" b="0" baseline="0" dirty="0" smtClean="0">
                <a:solidFill>
                  <a:schemeClr val="bg1"/>
                </a:solidFill>
                <a:latin typeface="Trebuchet MS" pitchFamily="34" charset="0"/>
              </a:endParaRPr>
            </a:p>
            <a:p>
              <a:pPr algn="ctr"/>
              <a:r>
                <a:rPr lang="en-US" sz="3200" b="1" baseline="0" dirty="0" smtClean="0">
                  <a:solidFill>
                    <a:srgbClr val="FFC000"/>
                  </a:solidFill>
                  <a:latin typeface="Trebuchet MS" pitchFamily="34" charset="0"/>
                </a:rPr>
                <a:t>Title, Authors, and Affiliations</a:t>
              </a:r>
            </a:p>
            <a:p>
              <a:pPr algn="l"/>
              <a:r>
                <a:rPr lang="en-US" sz="2400" b="0" baseline="0" dirty="0" smtClean="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smtClean="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smtClean="0">
                <a:solidFill>
                  <a:schemeClr val="bg1">
                    <a:lumMod val="75000"/>
                  </a:schemeClr>
                </a:solidFill>
                <a:latin typeface="Trebuchet MS" pitchFamily="34" charset="0"/>
              </a:endParaRPr>
            </a:p>
            <a:p>
              <a:pPr algn="l"/>
              <a:r>
                <a:rPr lang="en-US" sz="2400" b="1" spc="300" baseline="0" dirty="0" smtClean="0">
                  <a:solidFill>
                    <a:srgbClr val="FFC000"/>
                  </a:solidFill>
                  <a:latin typeface="Trebuchet MS" pitchFamily="34" charset="0"/>
                </a:rPr>
                <a:t>TIP</a:t>
              </a:r>
              <a:r>
                <a:rPr lang="en-US" sz="2400" b="1" baseline="0" dirty="0" smtClean="0">
                  <a:solidFill>
                    <a:srgbClr val="FFC000"/>
                  </a:solidFill>
                  <a:latin typeface="Trebuchet MS" pitchFamily="34" charset="0"/>
                </a:rPr>
                <a:t>: </a:t>
              </a:r>
              <a:r>
                <a:rPr lang="en-US" sz="2400" b="0" baseline="0" dirty="0" smtClean="0">
                  <a:solidFill>
                    <a:schemeClr val="bg1">
                      <a:lumMod val="75000"/>
                    </a:schemeClr>
                  </a:solidFill>
                  <a:latin typeface="Trebuchet MS" pitchFamily="34" charset="0"/>
                </a:rPr>
                <a:t>The font size of your title should be bigger than your name(s) and institution name(s).</a:t>
              </a:r>
            </a:p>
            <a:p>
              <a:pPr algn="l"/>
              <a:r>
                <a:rPr lang="en-US" sz="2800" b="1" baseline="0" dirty="0" smtClean="0">
                  <a:solidFill>
                    <a:schemeClr val="bg1"/>
                  </a:solidFill>
                  <a:latin typeface="Trebuchet MS" pitchFamily="34" charset="0"/>
                </a:rPr>
                <a:t/>
              </a:r>
              <a:br>
                <a:rPr lang="en-US" sz="2800" b="1" baseline="0" dirty="0" smtClean="0">
                  <a:solidFill>
                    <a:schemeClr val="bg1"/>
                  </a:solidFill>
                  <a:latin typeface="Trebuchet MS" pitchFamily="34" charset="0"/>
                </a:rPr>
              </a:br>
              <a:endParaRPr lang="en-US" sz="2800" b="1" dirty="0" smtClean="0">
                <a:solidFill>
                  <a:schemeClr val="bg1"/>
                </a:solidFill>
                <a:latin typeface="Trebuchet MS" pitchFamily="34" charset="0"/>
              </a:endParaRPr>
            </a:p>
            <a:p>
              <a:pPr algn="ctr"/>
              <a:endParaRPr lang="en-US" sz="2800" b="1" dirty="0" smtClean="0">
                <a:solidFill>
                  <a:srgbClr val="FFC000"/>
                </a:solidFill>
                <a:latin typeface="Trebuchet MS" pitchFamily="34" charset="0"/>
              </a:endParaRPr>
            </a:p>
            <a:p>
              <a:pPr algn="ctr"/>
              <a:endParaRPr lang="en-US" sz="2800" b="1" dirty="0" smtClean="0">
                <a:solidFill>
                  <a:srgbClr val="FFC000"/>
                </a:solidFill>
                <a:latin typeface="Trebuchet MS" pitchFamily="34" charset="0"/>
              </a:endParaRPr>
            </a:p>
            <a:p>
              <a:pPr algn="ctr"/>
              <a:r>
                <a:rPr lang="en-US" sz="3200" b="1" dirty="0" smtClean="0">
                  <a:solidFill>
                    <a:srgbClr val="FFC000"/>
                  </a:solidFill>
                  <a:latin typeface="Trebuchet MS" pitchFamily="34" charset="0"/>
                </a:rPr>
                <a:t>Adding Logos</a:t>
              </a:r>
              <a:r>
                <a:rPr lang="en-US" sz="3200" b="1" baseline="0" dirty="0" smtClean="0">
                  <a:solidFill>
                    <a:srgbClr val="FFC000"/>
                  </a:solidFill>
                  <a:latin typeface="Trebuchet MS" pitchFamily="34" charset="0"/>
                </a:rPr>
                <a:t> / Seals</a:t>
              </a:r>
            </a:p>
            <a:p>
              <a:pPr algn="l"/>
              <a:r>
                <a:rPr lang="en-US" sz="2400" b="0" baseline="0" dirty="0" smtClean="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smtClean="0">
                <a:solidFill>
                  <a:schemeClr val="bg1">
                    <a:lumMod val="75000"/>
                  </a:schemeClr>
                </a:solidFill>
                <a:latin typeface="Trebuchet MS" pitchFamily="34" charset="0"/>
              </a:endParaRPr>
            </a:p>
            <a:p>
              <a:pPr algn="l"/>
              <a:r>
                <a:rPr lang="en-US" sz="2400" b="1" spc="300" baseline="0" dirty="0" smtClean="0">
                  <a:solidFill>
                    <a:srgbClr val="FFC000"/>
                  </a:solidFill>
                  <a:latin typeface="Trebuchet MS" pitchFamily="34" charset="0"/>
                </a:rPr>
                <a:t>TIP:</a:t>
              </a:r>
              <a:r>
                <a:rPr lang="en-US" sz="2400" b="1" spc="0" baseline="0" dirty="0" smtClean="0">
                  <a:solidFill>
                    <a:srgbClr val="FFC000"/>
                  </a:solidFill>
                  <a:latin typeface="Trebuchet MS" pitchFamily="34" charset="0"/>
                </a:rPr>
                <a:t> </a:t>
              </a:r>
              <a:r>
                <a:rPr lang="en-US" sz="2400" b="0" baseline="0" dirty="0" smtClean="0">
                  <a:solidFill>
                    <a:schemeClr val="bg1">
                      <a:lumMod val="75000"/>
                    </a:schemeClr>
                  </a:solidFill>
                  <a:latin typeface="Trebuchet MS" pitchFamily="34" charset="0"/>
                </a:rPr>
                <a:t>See if your school’s logo is available on our free poster templates page.</a:t>
              </a:r>
            </a:p>
            <a:p>
              <a:pPr algn="l"/>
              <a:endParaRPr lang="en-US" sz="2400" b="0" baseline="0" dirty="0" smtClean="0">
                <a:latin typeface="Trebuchet MS" pitchFamily="34" charset="0"/>
              </a:endParaRPr>
            </a:p>
            <a:p>
              <a:pPr algn="ctr"/>
              <a:r>
                <a:rPr lang="en-US" sz="3200" b="1" baseline="0" dirty="0" smtClean="0">
                  <a:solidFill>
                    <a:srgbClr val="FFC000"/>
                  </a:solidFill>
                  <a:latin typeface="Trebuchet MS" pitchFamily="34" charset="0"/>
                </a:rPr>
                <a:t>Photographs / Graphics</a:t>
              </a:r>
            </a:p>
            <a:p>
              <a:pPr algn="l" defTabSz="977900"/>
              <a:r>
                <a:rPr lang="en-US" sz="2400" b="0" baseline="0" dirty="0" smtClean="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smtClean="0">
                  <a:solidFill>
                    <a:schemeClr val="bg1">
                      <a:lumMod val="75000"/>
                    </a:schemeClr>
                  </a:solidFill>
                  <a:latin typeface="Trebuchet MS" pitchFamily="34" charset="0"/>
                </a:rPr>
                <a:t>disproportionally.</a:t>
              </a:r>
            </a:p>
            <a:p>
              <a:pPr algn="l" defTabSz="977900"/>
              <a:endParaRPr lang="en-US" sz="2400" b="0" baseline="0" dirty="0" smtClean="0">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endParaRPr lang="en-US" sz="2800" b="1" baseline="0" dirty="0" smtClean="0">
                <a:solidFill>
                  <a:srgbClr val="FFC000"/>
                </a:solidFill>
                <a:latin typeface="Trebuchet MS" pitchFamily="34" charset="0"/>
              </a:endParaRPr>
            </a:p>
            <a:p>
              <a:pPr algn="ctr"/>
              <a:r>
                <a:rPr lang="en-US" sz="3200" b="1" baseline="0" dirty="0" smtClean="0">
                  <a:solidFill>
                    <a:srgbClr val="FFC000"/>
                  </a:solidFill>
                  <a:latin typeface="Trebuchet MS" pitchFamily="34" charset="0"/>
                </a:rPr>
                <a:t>Image Quality Check</a:t>
              </a:r>
            </a:p>
            <a:p>
              <a:pPr lvl="0" algn="l" defTabSz="977900"/>
              <a:r>
                <a:rPr lang="en-US" sz="2400" b="0" baseline="0" dirty="0" smtClean="0">
                  <a:solidFill>
                    <a:schemeClr val="bg1">
                      <a:lumMod val="75000"/>
                    </a:schemeClr>
                  </a:solidFill>
                  <a:latin typeface="Trebuchet MS" pitchFamily="34" charset="0"/>
                </a:rPr>
                <a:t>Zoom in and look at your images at 100% magnification. If they look good they will print well. </a:t>
              </a:r>
              <a:endParaRPr lang="en-US" sz="2800" b="0" dirty="0" smtClean="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1"/>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2"/>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3"/>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smtClean="0">
                      <a:solidFill>
                        <a:schemeClr val="tx1"/>
                      </a:solidFill>
                    </a:rPr>
                    <a:t>ORIGINAL</a:t>
                  </a:r>
                  <a:endParaRPr lang="en-US" sz="1600" b="1" dirty="0">
                    <a:solidFill>
                      <a:schemeClr val="tx1"/>
                    </a:solidFill>
                  </a:endParaRP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3"/>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smtClean="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4"/>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smtClean="0">
                    <a:solidFill>
                      <a:schemeClr val="bg1"/>
                    </a:solidFill>
                  </a:rPr>
                  <a:t>Corner</a:t>
                </a:r>
                <a:r>
                  <a:rPr lang="en-US" sz="1600" baseline="0" dirty="0" smtClean="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spid="_x0000_s3349" name="Image" r:id="rId15" imgW="1828440" imgH="1117440" progId="Photoshop.Image.13">
                      <p:embed/>
                    </p:oleObj>
                  </mc:Choice>
                  <mc:Fallback>
                    <p:oleObj name="Image" r:id="rId15" imgW="1828440" imgH="1117440" progId="Photoshop.Image.13">
                      <p:embed/>
                      <p:pic>
                        <p:nvPicPr>
                          <p:cNvPr id="0" name=""/>
                          <p:cNvPicPr/>
                          <p:nvPr/>
                        </p:nvPicPr>
                        <p:blipFill>
                          <a:blip r:embed="rId16"/>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spid="_x0000_s3350" name="Image" r:id="rId17" imgW="1828440" imgH="1117440" progId="Photoshop.Image.13">
                      <p:embed/>
                    </p:oleObj>
                  </mc:Choice>
                  <mc:Fallback>
                    <p:oleObj name="Image" r:id="rId17" imgW="1828440" imgH="1117440" progId="Photoshop.Image.13">
                      <p:embed/>
                      <p:pic>
                        <p:nvPicPr>
                          <p:cNvPr id="0" name=""/>
                          <p:cNvPicPr/>
                          <p:nvPr/>
                        </p:nvPicPr>
                        <p:blipFill>
                          <a:blip r:embed="rId18"/>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smtClean="0">
                    <a:solidFill>
                      <a:srgbClr val="92D050"/>
                    </a:solidFill>
                  </a:rPr>
                  <a:t>Good</a:t>
                </a:r>
                <a:r>
                  <a:rPr lang="en-US" sz="1600" baseline="0" dirty="0" smtClean="0">
                    <a:solidFill>
                      <a:srgbClr val="92D050"/>
                    </a:solidFill>
                  </a:rPr>
                  <a:t> </a:t>
                </a:r>
                <a:r>
                  <a:rPr lang="en-US" sz="1600" baseline="0" dirty="0" smtClean="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smtClean="0">
                    <a:solidFill>
                      <a:srgbClr val="FF0000"/>
                    </a:solidFill>
                  </a:rPr>
                  <a:t>Bad </a:t>
                </a:r>
                <a:r>
                  <a:rPr lang="en-US" sz="1600" dirty="0" smtClean="0">
                    <a:solidFill>
                      <a:schemeClr val="bg1"/>
                    </a:solidFill>
                  </a:rPr>
                  <a:t>printing quality</a:t>
                </a:r>
                <a:endParaRPr lang="en-US" sz="1600" dirty="0">
                  <a:solidFill>
                    <a:schemeClr val="bg1"/>
                  </a:solidFill>
                </a:endParaRP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smtClean="0">
                <a:solidFill>
                  <a:schemeClr val="bg1">
                    <a:lumMod val="75000"/>
                  </a:schemeClr>
                </a:solidFill>
                <a:latin typeface="Arial" charset="0"/>
              </a:rPr>
              <a:t>RESEARCH POSTER PRESENTATION </a:t>
            </a:r>
            <a:r>
              <a:rPr lang="en-US" sz="500" b="1" dirty="0">
                <a:solidFill>
                  <a:schemeClr val="bg1">
                    <a:lumMod val="75000"/>
                  </a:schemeClr>
                </a:solidFill>
                <a:latin typeface="Arial" charset="0"/>
              </a:rPr>
              <a:t>DESIGN © </a:t>
            </a:r>
            <a:r>
              <a:rPr lang="en-US" sz="500" b="1" dirty="0" smtClean="0">
                <a:solidFill>
                  <a:schemeClr val="bg1">
                    <a:lumMod val="75000"/>
                  </a:schemeClr>
                </a:solidFill>
                <a:latin typeface="Arial" charset="0"/>
              </a:rPr>
              <a:t>2015</a:t>
            </a:r>
            <a:endParaRPr lang="en-US" sz="500" b="1" dirty="0">
              <a:solidFill>
                <a:schemeClr val="bg1">
                  <a:lumMod val="75000"/>
                </a:schemeClr>
              </a:solidFill>
              <a:latin typeface="Arial" charset="0"/>
            </a:endParaRP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iming>
    <p:tnLst>
      <p:par>
        <p:cTn xmlns:p14="http://schemas.microsoft.com/office/powerpoint/2010/main" id="1" dur="indefinite" restart="never" nodeType="tmRoot"/>
      </p:par>
    </p:tnLst>
  </p:timing>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9.jpg"/><Relationship Id="rId12" Type="http://schemas.openxmlformats.org/officeDocument/2006/relationships/image" Target="../media/image20.jpg"/><Relationship Id="rId1" Type="http://schemas.openxmlformats.org/officeDocument/2006/relationships/slideLayout" Target="../slideLayouts/slideLayout1.xml"/><Relationship Id="rId2" Type="http://schemas.openxmlformats.org/officeDocument/2006/relationships/hyperlink" Target="http://www.sdss.org/" TargetMode="External"/><Relationship Id="rId3" Type="http://schemas.openxmlformats.org/officeDocument/2006/relationships/image" Target="../media/image11.jpeg"/><Relationship Id="rId4" Type="http://schemas.openxmlformats.org/officeDocument/2006/relationships/image" Target="../media/image12.jpeg"/><Relationship Id="rId5" Type="http://schemas.openxmlformats.org/officeDocument/2006/relationships/image" Target="../media/image13.jpg"/><Relationship Id="rId6" Type="http://schemas.openxmlformats.org/officeDocument/2006/relationships/image" Target="../media/image14.jpg"/><Relationship Id="rId7" Type="http://schemas.openxmlformats.org/officeDocument/2006/relationships/image" Target="../media/image15.jpg"/><Relationship Id="rId8" Type="http://schemas.openxmlformats.org/officeDocument/2006/relationships/image" Target="../media/image16.jpg"/><Relationship Id="rId9" Type="http://schemas.openxmlformats.org/officeDocument/2006/relationships/image" Target="../media/image17.png"/><Relationship Id="rId10"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91425" y="6378481"/>
            <a:ext cx="10056813" cy="5847732"/>
          </a:xfrm>
        </p:spPr>
        <p:txBody>
          <a:bodyPr/>
          <a:lstStyle/>
          <a:p>
            <a:r>
              <a:rPr lang="en-US" dirty="0"/>
              <a:t>The </a:t>
            </a:r>
            <a:r>
              <a:rPr lang="en-US" dirty="0" err="1"/>
              <a:t>corotation</a:t>
            </a:r>
            <a:r>
              <a:rPr lang="en-US" dirty="0"/>
              <a:t> resonance (CR) is the most important resonance governing</a:t>
            </a:r>
          </a:p>
          <a:p>
            <a:r>
              <a:rPr lang="en-US" dirty="0"/>
              <a:t>the structure and dynamics of disk-shaped galaxies. A number of methods</a:t>
            </a:r>
          </a:p>
          <a:p>
            <a:r>
              <a:rPr lang="en-US" dirty="0"/>
              <a:t>have been proposed for determining the CR radius, </a:t>
            </a:r>
            <a:r>
              <a:rPr lang="en-US" dirty="0" err="1" smtClean="0"/>
              <a:t>r</a:t>
            </a:r>
            <a:r>
              <a:rPr lang="en-US" baseline="-25000" dirty="0" err="1" smtClean="0"/>
              <a:t>CR</a:t>
            </a:r>
            <a:r>
              <a:rPr lang="en-US" dirty="0" smtClean="0"/>
              <a:t>, based either </a:t>
            </a:r>
            <a:r>
              <a:rPr lang="en-US" dirty="0"/>
              <a:t>on kinematics, photometry, or both.  Font et al. (</a:t>
            </a:r>
            <a:r>
              <a:rPr lang="en-US" dirty="0" smtClean="0"/>
              <a:t>2011, 2014a,b) developed an effective kinematic </a:t>
            </a:r>
            <a:r>
              <a:rPr lang="en-US" dirty="0"/>
              <a:t>approach called the "</a:t>
            </a:r>
            <a:r>
              <a:rPr lang="en-US" dirty="0" smtClean="0"/>
              <a:t>streaming phase</a:t>
            </a:r>
            <a:r>
              <a:rPr lang="en-US" dirty="0"/>
              <a:t>-</a:t>
            </a:r>
            <a:r>
              <a:rPr lang="en-US" dirty="0" smtClean="0"/>
              <a:t>reversal</a:t>
            </a:r>
            <a:r>
              <a:rPr lang="en-US" dirty="0"/>
              <a:t>" (SPR) method to locate CR radii </a:t>
            </a:r>
            <a:r>
              <a:rPr lang="en-US" dirty="0" smtClean="0"/>
              <a:t>in disk galaxies with well-sampled velocity fields.  </a:t>
            </a:r>
            <a:r>
              <a:rPr lang="en-US" dirty="0"/>
              <a:t>Here we compare estimates of </a:t>
            </a:r>
            <a:r>
              <a:rPr lang="en-US" dirty="0" err="1" smtClean="0"/>
              <a:t>r</a:t>
            </a:r>
            <a:r>
              <a:rPr lang="en-US" baseline="-25000" dirty="0" err="1" smtClean="0"/>
              <a:t>CR</a:t>
            </a:r>
            <a:r>
              <a:rPr lang="en-US" dirty="0" smtClean="0"/>
              <a:t> for </a:t>
            </a:r>
            <a:r>
              <a:rPr lang="en-US" dirty="0"/>
              <a:t>6 </a:t>
            </a:r>
            <a:r>
              <a:rPr lang="en-US" dirty="0" smtClean="0"/>
              <a:t>galaxies from Font et al. (2014a) </a:t>
            </a:r>
            <a:r>
              <a:rPr lang="en-US" dirty="0" smtClean="0"/>
              <a:t>and </a:t>
            </a:r>
            <a:r>
              <a:rPr lang="en-US" dirty="0" smtClean="0"/>
              <a:t>Beckman et al. (</a:t>
            </a:r>
            <a:r>
              <a:rPr lang="en-US" dirty="0" smtClean="0"/>
              <a:t>2</a:t>
            </a:r>
            <a:r>
              <a:rPr lang="en-US" dirty="0"/>
              <a:t>0</a:t>
            </a:r>
            <a:r>
              <a:rPr lang="en-US" dirty="0" smtClean="0"/>
              <a:t>18) with those estimated using a very different </a:t>
            </a:r>
            <a:r>
              <a:rPr lang="en-US" dirty="0" err="1" smtClean="0"/>
              <a:t>apporach</a:t>
            </a:r>
            <a:r>
              <a:rPr lang="en-US" dirty="0" smtClean="0"/>
              <a:t>: the </a:t>
            </a:r>
            <a:r>
              <a:rPr lang="en-US" dirty="0"/>
              <a:t>potential-</a:t>
            </a:r>
            <a:r>
              <a:rPr lang="en-US" dirty="0" smtClean="0"/>
              <a:t>density phase-shift </a:t>
            </a:r>
            <a:r>
              <a:rPr lang="en-US" dirty="0"/>
              <a:t>(PDPS) method of Zhang </a:t>
            </a:r>
            <a:r>
              <a:rPr lang="en-US" dirty="0" smtClean="0"/>
              <a:t>&amp; </a:t>
            </a:r>
            <a:r>
              <a:rPr lang="en-US" dirty="0"/>
              <a:t>Buta (2007</a:t>
            </a:r>
            <a:r>
              <a:rPr lang="en-US" dirty="0" smtClean="0"/>
              <a:t>). </a:t>
            </a:r>
          </a:p>
          <a:p>
            <a:endParaRPr lang="en-US" dirty="0"/>
          </a:p>
          <a:p>
            <a:endParaRPr lang="en-US" dirty="0"/>
          </a:p>
          <a:p>
            <a:endParaRPr lang="en-US" dirty="0"/>
          </a:p>
        </p:txBody>
      </p:sp>
      <p:sp>
        <p:nvSpPr>
          <p:cNvPr id="3" name="Text Placeholder 2"/>
          <p:cNvSpPr>
            <a:spLocks noGrp="1"/>
          </p:cNvSpPr>
          <p:nvPr>
            <p:ph type="body" sz="quarter" idx="11"/>
          </p:nvPr>
        </p:nvSpPr>
        <p:spPr/>
        <p:txBody>
          <a:bodyPr/>
          <a:lstStyle/>
          <a:p>
            <a:r>
              <a:rPr lang="en-US" dirty="0" smtClean="0"/>
              <a:t>Abstract</a:t>
            </a:r>
            <a:endParaRPr lang="en-US" dirty="0"/>
          </a:p>
        </p:txBody>
      </p:sp>
      <p:sp>
        <p:nvSpPr>
          <p:cNvPr id="4" name="Text Placeholder 3"/>
          <p:cNvSpPr>
            <a:spLocks noGrp="1"/>
          </p:cNvSpPr>
          <p:nvPr>
            <p:ph type="body" sz="quarter" idx="20"/>
          </p:nvPr>
        </p:nvSpPr>
        <p:spPr>
          <a:xfrm>
            <a:off x="509578" y="11225544"/>
            <a:ext cx="10050462" cy="754045"/>
          </a:xfrm>
        </p:spPr>
        <p:txBody>
          <a:bodyPr/>
          <a:lstStyle/>
          <a:p>
            <a:r>
              <a:rPr lang="en-US" dirty="0" smtClean="0"/>
              <a:t>Introduction</a:t>
            </a:r>
            <a:endParaRPr lang="en-US" dirty="0"/>
          </a:p>
        </p:txBody>
      </p:sp>
      <p:sp>
        <p:nvSpPr>
          <p:cNvPr id="5" name="Text Placeholder 4"/>
          <p:cNvSpPr>
            <a:spLocks noGrp="1"/>
          </p:cNvSpPr>
          <p:nvPr>
            <p:ph type="body" sz="quarter" idx="21"/>
          </p:nvPr>
        </p:nvSpPr>
        <p:spPr>
          <a:xfrm>
            <a:off x="11460161" y="6378481"/>
            <a:ext cx="10048874" cy="9925772"/>
          </a:xfrm>
        </p:spPr>
        <p:txBody>
          <a:bodyPr/>
          <a:lstStyle/>
          <a:p>
            <a:r>
              <a:rPr lang="en-US" dirty="0"/>
              <a:t>Our analysis </a:t>
            </a:r>
            <a:r>
              <a:rPr lang="en-US" dirty="0" smtClean="0"/>
              <a:t> is </a:t>
            </a:r>
            <a:r>
              <a:rPr lang="en-US" dirty="0"/>
              <a:t>based on Sloan Digital Sky Survey (</a:t>
            </a:r>
            <a:r>
              <a:rPr lang="en-US" dirty="0" smtClean="0"/>
              <a:t>SDSS; Gunn et al. 1998; York et al. 2000) </a:t>
            </a:r>
            <a:r>
              <a:rPr lang="en-US" dirty="0"/>
              <a:t>DR7 (</a:t>
            </a:r>
            <a:r>
              <a:rPr lang="en-US" dirty="0" err="1" smtClean="0"/>
              <a:t>Abazajian</a:t>
            </a:r>
            <a:r>
              <a:rPr lang="en-US" dirty="0" smtClean="0"/>
              <a:t> et </a:t>
            </a:r>
            <a:r>
              <a:rPr lang="en-US" dirty="0"/>
              <a:t>al. 2009) images in filters </a:t>
            </a:r>
            <a:r>
              <a:rPr lang="en-US" i="1" dirty="0" smtClean="0"/>
              <a:t>g</a:t>
            </a:r>
            <a:r>
              <a:rPr lang="en-US" dirty="0" smtClean="0"/>
              <a:t>, </a:t>
            </a:r>
            <a:r>
              <a:rPr lang="en-US" i="1" dirty="0" smtClean="0"/>
              <a:t>r</a:t>
            </a:r>
            <a:r>
              <a:rPr lang="en-US" dirty="0" smtClean="0"/>
              <a:t>. </a:t>
            </a:r>
            <a:r>
              <a:rPr lang="en-US" dirty="0"/>
              <a:t>and</a:t>
            </a:r>
            <a:r>
              <a:rPr lang="en-US" i="1" dirty="0"/>
              <a:t> </a:t>
            </a:r>
            <a:r>
              <a:rPr lang="en-US" i="1" dirty="0" err="1" smtClean="0"/>
              <a:t>i</a:t>
            </a:r>
            <a:r>
              <a:rPr lang="en-US" dirty="0" smtClean="0"/>
              <a:t>. </a:t>
            </a:r>
            <a:r>
              <a:rPr lang="en-US" dirty="0"/>
              <a:t>The images </a:t>
            </a:r>
            <a:r>
              <a:rPr lang="en-US" dirty="0" smtClean="0"/>
              <a:t>were downloaded </a:t>
            </a:r>
            <a:r>
              <a:rPr lang="en-US" dirty="0"/>
              <a:t>using an SDSS query tool, calibrated using </a:t>
            </a:r>
            <a:r>
              <a:rPr lang="en-US" dirty="0" err="1"/>
              <a:t>tsField</a:t>
            </a:r>
            <a:r>
              <a:rPr lang="en-US" dirty="0"/>
              <a:t> files</a:t>
            </a:r>
            <a:r>
              <a:rPr lang="en-US" dirty="0" smtClean="0"/>
              <a:t>, cleaned </a:t>
            </a:r>
            <a:r>
              <a:rPr lang="en-US" dirty="0"/>
              <a:t>of foreground and background objects using IRAF routine IMEDIT</a:t>
            </a:r>
            <a:r>
              <a:rPr lang="en-US" dirty="0" smtClean="0"/>
              <a:t>, </a:t>
            </a:r>
            <a:r>
              <a:rPr lang="en-US" dirty="0" err="1" smtClean="0"/>
              <a:t>deprojected</a:t>
            </a:r>
            <a:r>
              <a:rPr lang="en-US" dirty="0"/>
              <a:t>, corrected for Galactic extinction, and </a:t>
            </a:r>
            <a:r>
              <a:rPr lang="en-US" dirty="0" smtClean="0"/>
              <a:t>then  </a:t>
            </a:r>
            <a:r>
              <a:rPr lang="en-US" i="1" dirty="0" smtClean="0"/>
              <a:t>r</a:t>
            </a:r>
            <a:r>
              <a:rPr lang="en-US" dirty="0" smtClean="0"/>
              <a:t> </a:t>
            </a:r>
            <a:r>
              <a:rPr lang="en-US" dirty="0"/>
              <a:t>and </a:t>
            </a:r>
            <a:r>
              <a:rPr lang="en-US" i="1" dirty="0" err="1"/>
              <a:t>i</a:t>
            </a:r>
            <a:r>
              <a:rPr lang="en-US" dirty="0" smtClean="0"/>
              <a:t> were </a:t>
            </a:r>
            <a:r>
              <a:rPr lang="en-US" dirty="0"/>
              <a:t>converted to mass surface density using color-dependent</a:t>
            </a:r>
          </a:p>
          <a:p>
            <a:r>
              <a:rPr lang="en-US" dirty="0"/>
              <a:t>mass-to-light </a:t>
            </a:r>
            <a:r>
              <a:rPr lang="en-US" dirty="0" smtClean="0"/>
              <a:t> ratios  (Bell </a:t>
            </a:r>
            <a:r>
              <a:rPr lang="en-US" dirty="0"/>
              <a:t>et al. 2003). The map based on </a:t>
            </a:r>
            <a:r>
              <a:rPr lang="en-US" i="1" dirty="0" err="1" smtClean="0"/>
              <a:t>i</a:t>
            </a:r>
            <a:r>
              <a:rPr lang="en-US" dirty="0" smtClean="0"/>
              <a:t> used </a:t>
            </a:r>
            <a:r>
              <a:rPr lang="en-US" i="1" dirty="0" smtClean="0"/>
              <a:t>g</a:t>
            </a:r>
            <a:r>
              <a:rPr lang="en-US" i="1" dirty="0"/>
              <a:t>-</a:t>
            </a:r>
            <a:r>
              <a:rPr lang="en-US" i="1" dirty="0" err="1" smtClean="0"/>
              <a:t>i</a:t>
            </a:r>
            <a:r>
              <a:rPr lang="en-US" dirty="0" smtClean="0"/>
              <a:t> </a:t>
            </a:r>
            <a:r>
              <a:rPr lang="en-US" dirty="0"/>
              <a:t>for the conversion, while the map based on </a:t>
            </a:r>
            <a:r>
              <a:rPr lang="en-US" i="1" dirty="0" smtClean="0"/>
              <a:t>r </a:t>
            </a:r>
            <a:r>
              <a:rPr lang="en-US" dirty="0"/>
              <a:t>used </a:t>
            </a:r>
            <a:r>
              <a:rPr lang="en-US" i="1" dirty="0" smtClean="0"/>
              <a:t>g</a:t>
            </a:r>
            <a:r>
              <a:rPr lang="en-US" i="1" dirty="0"/>
              <a:t>-</a:t>
            </a:r>
            <a:r>
              <a:rPr lang="en-US" i="1" dirty="0" smtClean="0"/>
              <a:t>r</a:t>
            </a:r>
            <a:r>
              <a:rPr lang="en-US" dirty="0" smtClean="0"/>
              <a:t>. Table 1 summarizes the sample galaxies,. Figure 2 shows  the input images and resulting mass map for one of these cases.</a:t>
            </a:r>
            <a:endParaRPr lang="en-US" dirty="0"/>
          </a:p>
          <a:p>
            <a:endParaRPr lang="en-US" dirty="0" smtClean="0"/>
          </a:p>
          <a:p>
            <a:r>
              <a:rPr lang="en-US" dirty="0" smtClean="0"/>
              <a:t>                               Table 1: Sample Galaxies</a:t>
            </a:r>
          </a:p>
          <a:p>
            <a:r>
              <a:rPr lang="en-US" dirty="0" smtClean="0"/>
              <a:t>           --------------------------------------------------------------</a:t>
            </a:r>
            <a:endParaRPr lang="en-US" dirty="0"/>
          </a:p>
          <a:p>
            <a:r>
              <a:rPr lang="en-US" dirty="0" smtClean="0"/>
              <a:t>             Galaxy                                     CVRHS Type           </a:t>
            </a:r>
          </a:p>
          <a:p>
            <a:r>
              <a:rPr lang="en-US" dirty="0" smtClean="0"/>
              <a:t>           --------------------------------------------------------------</a:t>
            </a:r>
            <a:endParaRPr lang="en-US" dirty="0"/>
          </a:p>
          <a:p>
            <a:r>
              <a:rPr lang="en-US" dirty="0" smtClean="0"/>
              <a:t>           NGC 2595                               (R’)SAB(</a:t>
            </a:r>
            <a:r>
              <a:rPr lang="en-US" dirty="0" err="1" smtClean="0"/>
              <a:t>p,rs,nr</a:t>
            </a:r>
            <a:r>
              <a:rPr lang="en-US" dirty="0" smtClean="0"/>
              <a:t>)</a:t>
            </a:r>
            <a:r>
              <a:rPr lang="en-US" u="sng" dirty="0" err="1" smtClean="0"/>
              <a:t>b</a:t>
            </a:r>
            <a:r>
              <a:rPr lang="en-US" dirty="0" err="1" smtClean="0"/>
              <a:t>c</a:t>
            </a:r>
            <a:endParaRPr lang="en-US" dirty="0"/>
          </a:p>
          <a:p>
            <a:r>
              <a:rPr lang="en-US" dirty="0" smtClean="0"/>
              <a:t>           NGC 3433                               SA(s)c</a:t>
            </a:r>
          </a:p>
          <a:p>
            <a:r>
              <a:rPr lang="en-US" dirty="0" smtClean="0"/>
              <a:t>           NGC 3504                               (R</a:t>
            </a:r>
            <a:r>
              <a:rPr lang="en-US" baseline="-25000" dirty="0" smtClean="0"/>
              <a:t>1</a:t>
            </a:r>
            <a:r>
              <a:rPr lang="en-US" dirty="0" smtClean="0"/>
              <a:t>’)SAB(</a:t>
            </a:r>
            <a:r>
              <a:rPr lang="en-US" dirty="0" err="1" smtClean="0"/>
              <a:t>rs,nr</a:t>
            </a:r>
            <a:r>
              <a:rPr lang="en-US" dirty="0" smtClean="0"/>
              <a:t>’)</a:t>
            </a:r>
            <a:r>
              <a:rPr lang="en-US" dirty="0" err="1" smtClean="0"/>
              <a:t>ab</a:t>
            </a:r>
            <a:endParaRPr lang="en-US" dirty="0" smtClean="0"/>
          </a:p>
          <a:p>
            <a:r>
              <a:rPr lang="en-US" dirty="0" smtClean="0"/>
              <a:t>           NGC 4303                               (R’)SAB(</a:t>
            </a:r>
            <a:r>
              <a:rPr lang="en-US" dirty="0" err="1" smtClean="0"/>
              <a:t>rs,nr</a:t>
            </a:r>
            <a:r>
              <a:rPr lang="en-US" dirty="0" smtClean="0"/>
              <a:t>)</a:t>
            </a:r>
            <a:r>
              <a:rPr lang="en-US" dirty="0" err="1" smtClean="0"/>
              <a:t>bc</a:t>
            </a:r>
            <a:endParaRPr lang="en-US" dirty="0" smtClean="0"/>
          </a:p>
          <a:p>
            <a:r>
              <a:rPr lang="en-US" dirty="0" smtClean="0"/>
              <a:t>           NGC 4725                               (R’)SAB(</a:t>
            </a:r>
            <a:r>
              <a:rPr lang="en-US" dirty="0" err="1" smtClean="0"/>
              <a:t>r,nb</a:t>
            </a:r>
            <a:r>
              <a:rPr lang="en-US" dirty="0" smtClean="0"/>
              <a:t>)</a:t>
            </a:r>
            <a:r>
              <a:rPr lang="en-US" dirty="0" err="1" smtClean="0"/>
              <a:t>ab</a:t>
            </a:r>
            <a:endParaRPr lang="en-US" dirty="0" smtClean="0"/>
          </a:p>
          <a:p>
            <a:r>
              <a:rPr lang="en-US" dirty="0" smtClean="0"/>
              <a:t>           NGC 5430                               SAB(</a:t>
            </a:r>
            <a:r>
              <a:rPr lang="en-US" dirty="0" err="1" smtClean="0"/>
              <a:t>s,nr</a:t>
            </a:r>
            <a:r>
              <a:rPr lang="en-US" dirty="0" smtClean="0"/>
              <a:t>’)b </a:t>
            </a:r>
            <a:r>
              <a:rPr lang="en-US" dirty="0" err="1" smtClean="0"/>
              <a:t>pec</a:t>
            </a:r>
            <a:endParaRPr lang="en-US" dirty="0" smtClean="0"/>
          </a:p>
          <a:p>
            <a:r>
              <a:rPr lang="en-US" dirty="0"/>
              <a:t> </a:t>
            </a:r>
            <a:r>
              <a:rPr lang="en-US" dirty="0" smtClean="0"/>
              <a:t>          --------------------------------------------------------------</a:t>
            </a:r>
            <a:endParaRPr lang="en-US" dirty="0"/>
          </a:p>
        </p:txBody>
      </p:sp>
      <p:sp>
        <p:nvSpPr>
          <p:cNvPr id="6" name="Text Placeholder 5"/>
          <p:cNvSpPr>
            <a:spLocks noGrp="1"/>
          </p:cNvSpPr>
          <p:nvPr>
            <p:ph type="body" sz="quarter" idx="22"/>
          </p:nvPr>
        </p:nvSpPr>
        <p:spPr/>
        <p:txBody>
          <a:bodyPr/>
          <a:lstStyle/>
          <a:p>
            <a:r>
              <a:rPr lang="en-US" dirty="0" smtClean="0"/>
              <a:t>Materials and Methods</a:t>
            </a:r>
            <a:endParaRPr lang="en-US" dirty="0"/>
          </a:p>
        </p:txBody>
      </p:sp>
      <p:sp>
        <p:nvSpPr>
          <p:cNvPr id="7" name="Text Placeholder 6"/>
          <p:cNvSpPr>
            <a:spLocks noGrp="1"/>
          </p:cNvSpPr>
          <p:nvPr>
            <p:ph type="body" sz="quarter" idx="23"/>
          </p:nvPr>
        </p:nvSpPr>
        <p:spPr>
          <a:xfrm>
            <a:off x="22385343" y="6378481"/>
            <a:ext cx="10048874" cy="3154688"/>
          </a:xfrm>
        </p:spPr>
        <p:txBody>
          <a:bodyPr/>
          <a:lstStyle/>
          <a:p>
            <a:r>
              <a:rPr lang="en-US" dirty="0" smtClean="0"/>
              <a:t>The phase-shift as a function of </a:t>
            </a:r>
            <a:r>
              <a:rPr lang="en-US" dirty="0" err="1" smtClean="0"/>
              <a:t>galactocentric</a:t>
            </a:r>
            <a:r>
              <a:rPr lang="en-US" dirty="0" smtClean="0"/>
              <a:t> radius is shown for each galaxy in Figure 3. Filled circles  indicate all positive-to-negative  (P/N) crossings , each of which is a candidate for a CR radius although many in the outer regions are likely due to noise. The vertical lines show the CR radii for five galaxies from Font et al. (2014a), while those for the 6</a:t>
            </a:r>
            <a:r>
              <a:rPr lang="en-US" baseline="30000" dirty="0" smtClean="0"/>
              <a:t>th</a:t>
            </a:r>
            <a:r>
              <a:rPr lang="en-US" dirty="0" smtClean="0"/>
              <a:t> (NGC 3433) are from </a:t>
            </a:r>
            <a:r>
              <a:rPr lang="en-US" dirty="0" smtClean="0"/>
              <a:t>Beckman et al. </a:t>
            </a:r>
            <a:r>
              <a:rPr lang="en-US" dirty="0" smtClean="0"/>
              <a:t>(2018). The results show some clear matches that are unlikely to be random noise alignments.</a:t>
            </a:r>
            <a:endParaRPr lang="en-US" dirty="0"/>
          </a:p>
        </p:txBody>
      </p:sp>
      <p:sp>
        <p:nvSpPr>
          <p:cNvPr id="8" name="Text Placeholder 7"/>
          <p:cNvSpPr>
            <a:spLocks noGrp="1"/>
          </p:cNvSpPr>
          <p:nvPr>
            <p:ph type="body" sz="quarter" idx="24"/>
          </p:nvPr>
        </p:nvSpPr>
        <p:spPr/>
        <p:txBody>
          <a:bodyPr/>
          <a:lstStyle/>
          <a:p>
            <a:r>
              <a:rPr lang="en-US" dirty="0" smtClean="0"/>
              <a:t>Results</a:t>
            </a:r>
            <a:endParaRPr lang="en-US" dirty="0"/>
          </a:p>
        </p:txBody>
      </p:sp>
      <p:sp>
        <p:nvSpPr>
          <p:cNvPr id="9" name="Text Placeholder 8"/>
          <p:cNvSpPr>
            <a:spLocks noGrp="1"/>
          </p:cNvSpPr>
          <p:nvPr>
            <p:ph type="body" sz="quarter" idx="25"/>
          </p:nvPr>
        </p:nvSpPr>
        <p:spPr/>
        <p:txBody>
          <a:bodyPr/>
          <a:lstStyle/>
          <a:p>
            <a:r>
              <a:rPr lang="en-US" dirty="0" smtClean="0"/>
              <a:t>Results (cont.)</a:t>
            </a:r>
            <a:endParaRPr lang="en-US" dirty="0"/>
          </a:p>
        </p:txBody>
      </p:sp>
      <p:sp>
        <p:nvSpPr>
          <p:cNvPr id="10" name="Text Placeholder 9"/>
          <p:cNvSpPr>
            <a:spLocks noGrp="1"/>
          </p:cNvSpPr>
          <p:nvPr>
            <p:ph type="body" sz="quarter" idx="26"/>
          </p:nvPr>
        </p:nvSpPr>
        <p:spPr>
          <a:xfrm>
            <a:off x="33358541" y="6378481"/>
            <a:ext cx="10047018" cy="4693570"/>
          </a:xfrm>
        </p:spPr>
        <p:txBody>
          <a:bodyPr/>
          <a:lstStyle/>
          <a:p>
            <a:r>
              <a:rPr lang="en-US" dirty="0" smtClean="0"/>
              <a:t>The </a:t>
            </a:r>
            <a:r>
              <a:rPr lang="en-US" i="1" dirty="0" smtClean="0"/>
              <a:t>r</a:t>
            </a:r>
            <a:r>
              <a:rPr lang="en-US" dirty="0" smtClean="0"/>
              <a:t>- and </a:t>
            </a:r>
            <a:r>
              <a:rPr lang="en-US" i="1" dirty="0" err="1" smtClean="0"/>
              <a:t>i</a:t>
            </a:r>
            <a:r>
              <a:rPr lang="en-US" dirty="0" smtClean="0"/>
              <a:t>-band phase-shift distributions of NGC 4725 are similar, but the comparison highlights how most if not all of the outer crossings are likely due to noise. Within the bar region, however, the two filters are in agreement on three CR radii. The most prominent crossings occur at 70” (CR</a:t>
            </a:r>
            <a:r>
              <a:rPr lang="en-US" baseline="-25000" dirty="0" smtClean="0"/>
              <a:t>1</a:t>
            </a:r>
            <a:r>
              <a:rPr lang="en-US" dirty="0" smtClean="0"/>
              <a:t>) and 136” (CR</a:t>
            </a:r>
            <a:r>
              <a:rPr lang="en-US" baseline="-25000" dirty="0" smtClean="0"/>
              <a:t>2</a:t>
            </a:r>
            <a:r>
              <a:rPr lang="en-US" dirty="0" smtClean="0"/>
              <a:t>) (circles in Figure 4), both of which are close to the SPR radii of 78” and 140” (Font et al. 2014a).  The PDPS method also identifies a third CR at 8” which is matched more poorly by an SPR CR of 18” radius. CR</a:t>
            </a:r>
            <a:r>
              <a:rPr lang="en-US" baseline="-25000" dirty="0" smtClean="0"/>
              <a:t>1</a:t>
            </a:r>
            <a:r>
              <a:rPr lang="en-US" dirty="0" smtClean="0"/>
              <a:t> likely refers to an inner broad section of the bar while CR</a:t>
            </a:r>
            <a:r>
              <a:rPr lang="en-US" baseline="-25000" dirty="0" smtClean="0"/>
              <a:t>2</a:t>
            </a:r>
            <a:r>
              <a:rPr lang="en-US" dirty="0" smtClean="0"/>
              <a:t> may refer to an inner spiral which skews the outer part of the bar (seen well in the false color mass map in Figure 4, right). The innermost CR is likely associated with a prominent nuclear bar.</a:t>
            </a:r>
            <a:endParaRPr lang="en-US" dirty="0"/>
          </a:p>
        </p:txBody>
      </p:sp>
      <p:sp>
        <p:nvSpPr>
          <p:cNvPr id="11" name="Text Placeholder 10"/>
          <p:cNvSpPr>
            <a:spLocks noGrp="1"/>
          </p:cNvSpPr>
          <p:nvPr>
            <p:ph type="body" sz="quarter" idx="27"/>
          </p:nvPr>
        </p:nvSpPr>
        <p:spPr>
          <a:xfrm>
            <a:off x="33378669" y="21346295"/>
            <a:ext cx="10047018" cy="754045"/>
          </a:xfrm>
        </p:spPr>
        <p:txBody>
          <a:bodyPr/>
          <a:lstStyle/>
          <a:p>
            <a:r>
              <a:rPr lang="en-US" dirty="0" smtClean="0"/>
              <a:t>Conclusions</a:t>
            </a:r>
            <a:endParaRPr lang="en-US" dirty="0"/>
          </a:p>
        </p:txBody>
      </p:sp>
      <p:sp>
        <p:nvSpPr>
          <p:cNvPr id="12" name="Text Placeholder 11"/>
          <p:cNvSpPr>
            <a:spLocks noGrp="1"/>
          </p:cNvSpPr>
          <p:nvPr>
            <p:ph type="body" sz="quarter" idx="28"/>
          </p:nvPr>
        </p:nvSpPr>
        <p:spPr>
          <a:xfrm>
            <a:off x="33378669" y="21956383"/>
            <a:ext cx="10052050" cy="6848006"/>
          </a:xfrm>
        </p:spPr>
        <p:txBody>
          <a:bodyPr/>
          <a:lstStyle/>
          <a:p>
            <a:r>
              <a:rPr lang="en-US" dirty="0" smtClean="0"/>
              <a:t>The SPR and PDPS methods are two very different approaches to estimating CR radii is normal disk-shaped galaxies. In the case of NGC 4725, the methods are in good agreement on three innermost resonances. Some good agreements, as well as poor agreements, are found for the other five galaxies. It would be useful to apply the SPR method to ringed galaxies to further examine these issues, but the often highly localized nature of star formation in such galaxies may in some cases preclude getting the well-sampled velocity fields needed to apply the method.</a:t>
            </a:r>
            <a:r>
              <a:rPr lang="en-US" i="1" dirty="0"/>
              <a:t> </a:t>
            </a:r>
            <a:endParaRPr lang="en-US" i="1" dirty="0" smtClean="0"/>
          </a:p>
          <a:p>
            <a:r>
              <a:rPr lang="en-US" i="1" dirty="0" smtClean="0"/>
              <a:t>Funding </a:t>
            </a:r>
            <a:r>
              <a:rPr lang="en-US" i="1" dirty="0"/>
              <a:t>for the SDSS and SDSS-II has been provided by the Alfred P. Sloan Foundation, the Participating Institutions, the National Science Foundation, the U.S. Department of Energy, the National Aeronautics and Space Administration, the Japanese </a:t>
            </a:r>
            <a:r>
              <a:rPr lang="en-US" i="1" dirty="0" err="1"/>
              <a:t>Monbukagakusho</a:t>
            </a:r>
            <a:r>
              <a:rPr lang="en-US" i="1" dirty="0"/>
              <a:t>, the Max Planck Society, and the Higher Education Funding Council for England. The SDSS Web Site is </a:t>
            </a:r>
            <a:r>
              <a:rPr lang="en-US" i="1" dirty="0">
                <a:hlinkClick r:id="rId2"/>
              </a:rPr>
              <a:t>http://www.sdss.org/</a:t>
            </a:r>
            <a:r>
              <a:rPr lang="en-US" i="1" dirty="0"/>
              <a:t>.</a:t>
            </a:r>
            <a:endParaRPr lang="en-US" dirty="0" smtClean="0"/>
          </a:p>
          <a:p>
            <a:endParaRPr lang="en-US" dirty="0"/>
          </a:p>
          <a:p>
            <a:endParaRPr lang="en-US" dirty="0"/>
          </a:p>
        </p:txBody>
      </p:sp>
      <p:sp>
        <p:nvSpPr>
          <p:cNvPr id="13" name="Text Placeholder 12"/>
          <p:cNvSpPr>
            <a:spLocks noGrp="1"/>
          </p:cNvSpPr>
          <p:nvPr>
            <p:ph type="body" sz="quarter" idx="29"/>
          </p:nvPr>
        </p:nvSpPr>
        <p:spPr>
          <a:xfrm>
            <a:off x="33383701" y="27533241"/>
            <a:ext cx="10047018" cy="754045"/>
          </a:xfrm>
        </p:spPr>
        <p:txBody>
          <a:bodyPr/>
          <a:lstStyle/>
          <a:p>
            <a:r>
              <a:rPr lang="en-US" dirty="0" smtClean="0"/>
              <a:t>References</a:t>
            </a:r>
            <a:endParaRPr lang="en-US" dirty="0"/>
          </a:p>
        </p:txBody>
      </p:sp>
      <p:sp>
        <p:nvSpPr>
          <p:cNvPr id="14" name="Text Placeholder 13"/>
          <p:cNvSpPr>
            <a:spLocks noGrp="1"/>
          </p:cNvSpPr>
          <p:nvPr>
            <p:ph type="body" sz="quarter" idx="30"/>
          </p:nvPr>
        </p:nvSpPr>
        <p:spPr>
          <a:xfrm>
            <a:off x="33353509" y="28287286"/>
            <a:ext cx="10052050" cy="4093406"/>
          </a:xfrm>
        </p:spPr>
        <p:txBody>
          <a:bodyPr/>
          <a:lstStyle/>
          <a:p>
            <a:r>
              <a:rPr lang="en-US" sz="2000" dirty="0" err="1" smtClean="0"/>
              <a:t>Abazajian</a:t>
            </a:r>
            <a:r>
              <a:rPr lang="en-US" sz="2000" dirty="0" smtClean="0"/>
              <a:t>, K. N. et al. 2009, </a:t>
            </a:r>
            <a:r>
              <a:rPr lang="en-US" sz="2000" dirty="0" err="1" smtClean="0"/>
              <a:t>ApJS</a:t>
            </a:r>
            <a:r>
              <a:rPr lang="en-US" sz="2000" dirty="0" smtClean="0"/>
              <a:t>, 182, </a:t>
            </a:r>
            <a:r>
              <a:rPr lang="en-US" sz="2000" dirty="0" smtClean="0"/>
              <a:t>543</a:t>
            </a:r>
          </a:p>
          <a:p>
            <a:r>
              <a:rPr lang="en-US" sz="2000" dirty="0" smtClean="0"/>
              <a:t>Beckman, J. E. et al. 2018, </a:t>
            </a:r>
            <a:r>
              <a:rPr lang="en-US" sz="2000" dirty="0" err="1" smtClean="0"/>
              <a:t>ApJ</a:t>
            </a:r>
            <a:r>
              <a:rPr lang="en-US" sz="2000" dirty="0" smtClean="0"/>
              <a:t>, 854, 182</a:t>
            </a:r>
            <a:endParaRPr lang="en-US" sz="2000" dirty="0" smtClean="0"/>
          </a:p>
          <a:p>
            <a:r>
              <a:rPr lang="en-US" sz="2000" dirty="0" smtClean="0"/>
              <a:t>Bell, E. F. et al., 2003, </a:t>
            </a:r>
            <a:r>
              <a:rPr lang="en-US" sz="2000" dirty="0" err="1" smtClean="0"/>
              <a:t>ApJS</a:t>
            </a:r>
            <a:r>
              <a:rPr lang="en-US" sz="2000" dirty="0" smtClean="0"/>
              <a:t>, 149, 289</a:t>
            </a:r>
            <a:endParaRPr lang="en-US" sz="2000" dirty="0" smtClean="0"/>
          </a:p>
          <a:p>
            <a:r>
              <a:rPr lang="en-US" sz="2000" dirty="0" smtClean="0"/>
              <a:t>Font, J. et al. 2011, </a:t>
            </a:r>
            <a:r>
              <a:rPr lang="en-US" sz="2000" dirty="0" err="1" smtClean="0"/>
              <a:t>ApJ</a:t>
            </a:r>
            <a:r>
              <a:rPr lang="en-US" sz="2000" dirty="0" smtClean="0"/>
              <a:t>, 741, L14</a:t>
            </a:r>
          </a:p>
          <a:p>
            <a:r>
              <a:rPr lang="en-US" sz="2000" dirty="0" smtClean="0"/>
              <a:t>Font, J. et al. 2014a, MNRAS, L85</a:t>
            </a:r>
          </a:p>
          <a:p>
            <a:r>
              <a:rPr lang="en-US" sz="2000" dirty="0" smtClean="0"/>
              <a:t>Font, J. et al. 2014b, </a:t>
            </a:r>
            <a:r>
              <a:rPr lang="en-US" sz="2000" dirty="0" err="1" smtClean="0"/>
              <a:t>ApJS</a:t>
            </a:r>
            <a:r>
              <a:rPr lang="en-US" sz="2000" dirty="0" smtClean="0"/>
              <a:t>, 210, 2</a:t>
            </a:r>
          </a:p>
          <a:p>
            <a:r>
              <a:rPr lang="en-US" sz="2000" dirty="0" smtClean="0"/>
              <a:t>Gunn, J. E. et al. 1998, AJ, 116, 3040</a:t>
            </a:r>
          </a:p>
          <a:p>
            <a:r>
              <a:rPr lang="en-US" sz="2000" dirty="0" smtClean="0"/>
              <a:t>York, D. G. et al. 2006, AJ, 120, 1579</a:t>
            </a:r>
          </a:p>
          <a:p>
            <a:r>
              <a:rPr lang="en-US" sz="2000" dirty="0" smtClean="0"/>
              <a:t>Zhang, X. 1996, </a:t>
            </a:r>
            <a:r>
              <a:rPr lang="en-US" sz="2000" dirty="0" err="1" smtClean="0"/>
              <a:t>ApJ</a:t>
            </a:r>
            <a:r>
              <a:rPr lang="en-US" sz="2000" dirty="0" smtClean="0"/>
              <a:t>, 457, 125</a:t>
            </a:r>
          </a:p>
          <a:p>
            <a:r>
              <a:rPr lang="en-US" sz="2000" dirty="0" smtClean="0"/>
              <a:t>Zhang, X. &amp; Buta, R. 2007, AJ, 133, 2584</a:t>
            </a:r>
          </a:p>
        </p:txBody>
      </p:sp>
      <p:sp>
        <p:nvSpPr>
          <p:cNvPr id="15" name="Text Placeholder 14"/>
          <p:cNvSpPr>
            <a:spLocks noGrp="1"/>
          </p:cNvSpPr>
          <p:nvPr>
            <p:ph type="body" sz="quarter" idx="96"/>
          </p:nvPr>
        </p:nvSpPr>
        <p:spPr>
          <a:xfrm>
            <a:off x="491425" y="12363969"/>
            <a:ext cx="10056813" cy="20159343"/>
          </a:xfrm>
        </p:spPr>
        <p:txBody>
          <a:bodyPr/>
          <a:lstStyle/>
          <a:p>
            <a:r>
              <a:rPr lang="fr-FR" dirty="0" smtClean="0"/>
              <a:t>The </a:t>
            </a:r>
            <a:r>
              <a:rPr lang="fr-FR" dirty="0" err="1" smtClean="0"/>
              <a:t>corotation</a:t>
            </a:r>
            <a:r>
              <a:rPr lang="fr-FR" dirty="0" smtClean="0"/>
              <a:t> </a:t>
            </a:r>
            <a:r>
              <a:rPr lang="fr-FR" dirty="0" err="1" smtClean="0"/>
              <a:t>resonance</a:t>
            </a:r>
            <a:r>
              <a:rPr lang="fr-FR" dirty="0" smtClean="0"/>
              <a:t> in a </a:t>
            </a:r>
            <a:r>
              <a:rPr lang="fr-FR" dirty="0" err="1" smtClean="0"/>
              <a:t>galaxy</a:t>
            </a:r>
            <a:r>
              <a:rPr lang="fr-FR" dirty="0" smtClean="0"/>
              <a:t> </a:t>
            </a:r>
            <a:r>
              <a:rPr lang="fr-FR" dirty="0" err="1" smtClean="0"/>
              <a:t>is</a:t>
            </a:r>
            <a:r>
              <a:rPr lang="fr-FR" dirty="0" smtClean="0"/>
              <a:t> a </a:t>
            </a:r>
            <a:r>
              <a:rPr lang="fr-FR" dirty="0" err="1" smtClean="0"/>
              <a:t>special</a:t>
            </a:r>
            <a:r>
              <a:rPr lang="fr-FR" dirty="0" smtClean="0"/>
              <a:t> place </a:t>
            </a:r>
            <a:r>
              <a:rPr lang="fr-FR" dirty="0" err="1" smtClean="0"/>
              <a:t>where</a:t>
            </a:r>
            <a:r>
              <a:rPr lang="fr-FR" dirty="0" smtClean="0"/>
              <a:t> the </a:t>
            </a:r>
            <a:r>
              <a:rPr lang="fr-FR" dirty="0" err="1" smtClean="0"/>
              <a:t>angular</a:t>
            </a:r>
            <a:r>
              <a:rPr lang="fr-FR" dirty="0" smtClean="0"/>
              <a:t> speed, </a:t>
            </a:r>
            <a:r>
              <a:rPr lang="fr-FR" dirty="0" err="1" smtClean="0"/>
              <a:t>Ω</a:t>
            </a:r>
            <a:r>
              <a:rPr lang="fr-FR" dirty="0" smtClean="0"/>
              <a:t>, of stars and </a:t>
            </a:r>
            <a:r>
              <a:rPr lang="fr-FR" dirty="0" err="1" smtClean="0"/>
              <a:t>interstellar</a:t>
            </a:r>
            <a:r>
              <a:rPr lang="fr-FR" dirty="0" smtClean="0"/>
              <a:t> </a:t>
            </a:r>
            <a:r>
              <a:rPr lang="fr-FR" dirty="0" err="1" smtClean="0"/>
              <a:t>gas</a:t>
            </a:r>
            <a:r>
              <a:rPr lang="fr-FR" dirty="0" smtClean="0"/>
              <a:t> </a:t>
            </a:r>
            <a:r>
              <a:rPr lang="fr-FR" dirty="0" err="1" smtClean="0"/>
              <a:t>clouds</a:t>
            </a:r>
            <a:r>
              <a:rPr lang="fr-FR" dirty="0"/>
              <a:t> </a:t>
            </a:r>
            <a:r>
              <a:rPr lang="fr-FR" dirty="0" err="1" smtClean="0"/>
              <a:t>equals</a:t>
            </a:r>
            <a:r>
              <a:rPr lang="fr-FR" dirty="0" smtClean="0"/>
              <a:t> the </a:t>
            </a:r>
            <a:r>
              <a:rPr lang="fr-FR" dirty="0" err="1" smtClean="0"/>
              <a:t>angular</a:t>
            </a:r>
            <a:r>
              <a:rPr lang="fr-FR" dirty="0" smtClean="0"/>
              <a:t> speed </a:t>
            </a:r>
            <a:r>
              <a:rPr lang="fr-FR" dirty="0" err="1" smtClean="0"/>
              <a:t>Ω</a:t>
            </a:r>
            <a:r>
              <a:rPr lang="fr-FR" baseline="-25000" dirty="0" err="1" smtClean="0"/>
              <a:t>p</a:t>
            </a:r>
            <a:r>
              <a:rPr lang="fr-FR" dirty="0" smtClean="0"/>
              <a:t>, of a perturbation, </a:t>
            </a:r>
            <a:r>
              <a:rPr lang="fr-FR" dirty="0" err="1" smtClean="0"/>
              <a:t>such</a:t>
            </a:r>
            <a:r>
              <a:rPr lang="fr-FR" dirty="0" smtClean="0"/>
              <a:t> as a bar, </a:t>
            </a:r>
            <a:r>
              <a:rPr lang="fr-FR" dirty="0" err="1" smtClean="0"/>
              <a:t>oval</a:t>
            </a:r>
            <a:r>
              <a:rPr lang="fr-FR" dirty="0" smtClean="0"/>
              <a:t>, or spiral </a:t>
            </a:r>
            <a:r>
              <a:rPr lang="fr-FR" dirty="0" err="1" smtClean="0"/>
              <a:t>density</a:t>
            </a:r>
            <a:r>
              <a:rPr lang="fr-FR" dirty="0" smtClean="0"/>
              <a:t> </a:t>
            </a:r>
            <a:r>
              <a:rPr lang="fr-FR" dirty="0" err="1" smtClean="0"/>
              <a:t>wave</a:t>
            </a:r>
            <a:r>
              <a:rPr lang="fr-FR" dirty="0" smtClean="0"/>
              <a:t>. For </a:t>
            </a:r>
            <a:r>
              <a:rPr lang="fr-FR" dirty="0" err="1" smtClean="0"/>
              <a:t>any</a:t>
            </a:r>
            <a:r>
              <a:rPr lang="fr-FR" dirty="0" smtClean="0"/>
              <a:t> </a:t>
            </a:r>
            <a:r>
              <a:rPr lang="fr-FR" dirty="0" err="1" smtClean="0"/>
              <a:t>such</a:t>
            </a:r>
            <a:r>
              <a:rPr lang="fr-FR" dirty="0" smtClean="0"/>
              <a:t> </a:t>
            </a:r>
            <a:r>
              <a:rPr lang="fr-FR" dirty="0" err="1" smtClean="0"/>
              <a:t>feature</a:t>
            </a:r>
            <a:r>
              <a:rPr lang="fr-FR" dirty="0" smtClean="0"/>
              <a:t>, the location of the CR in </a:t>
            </a:r>
            <a:r>
              <a:rPr lang="fr-FR" dirty="0" err="1" smtClean="0"/>
              <a:t>conjunction</a:t>
            </a:r>
            <a:r>
              <a:rPr lang="fr-FR" dirty="0" smtClean="0"/>
              <a:t> </a:t>
            </a:r>
            <a:r>
              <a:rPr lang="fr-FR" dirty="0" err="1" smtClean="0"/>
              <a:t>with</a:t>
            </a:r>
            <a:r>
              <a:rPr lang="fr-FR" dirty="0" smtClean="0"/>
              <a:t> a rotation </a:t>
            </a:r>
            <a:r>
              <a:rPr lang="fr-FR" dirty="0" err="1" smtClean="0"/>
              <a:t>curve</a:t>
            </a:r>
            <a:r>
              <a:rPr lang="fr-FR" dirty="0" smtClean="0"/>
              <a:t> </a:t>
            </a:r>
            <a:r>
              <a:rPr lang="fr-FR" dirty="0" err="1" smtClean="0"/>
              <a:t>determines</a:t>
            </a:r>
            <a:r>
              <a:rPr lang="fr-FR" dirty="0" smtClean="0"/>
              <a:t> the location of all </a:t>
            </a:r>
            <a:r>
              <a:rPr lang="fr-FR" dirty="0" err="1" smtClean="0"/>
              <a:t>other</a:t>
            </a:r>
            <a:r>
              <a:rPr lang="fr-FR" dirty="0" smtClean="0"/>
              <a:t> </a:t>
            </a:r>
            <a:r>
              <a:rPr lang="fr-FR" dirty="0" err="1" smtClean="0"/>
              <a:t>resonances</a:t>
            </a:r>
            <a:r>
              <a:rPr lang="fr-FR" dirty="0" smtClean="0"/>
              <a:t>. </a:t>
            </a:r>
            <a:r>
              <a:rPr lang="fr-FR" dirty="0" err="1" smtClean="0"/>
              <a:t>Thus</a:t>
            </a:r>
            <a:r>
              <a:rPr lang="fr-FR" dirty="0" smtClean="0"/>
              <a:t>, the CR </a:t>
            </a:r>
            <a:r>
              <a:rPr lang="fr-FR" dirty="0" err="1" smtClean="0"/>
              <a:t>is</a:t>
            </a:r>
            <a:r>
              <a:rPr lang="fr-FR" dirty="0" smtClean="0"/>
              <a:t> one of the </a:t>
            </a:r>
            <a:r>
              <a:rPr lang="fr-FR" dirty="0" err="1" smtClean="0"/>
              <a:t>most</a:t>
            </a:r>
            <a:r>
              <a:rPr lang="fr-FR" dirty="0" smtClean="0"/>
              <a:t> important </a:t>
            </a:r>
            <a:r>
              <a:rPr lang="fr-FR" dirty="0" err="1" smtClean="0"/>
              <a:t>resonances</a:t>
            </a:r>
            <a:r>
              <a:rPr lang="fr-FR" dirty="0" smtClean="0"/>
              <a:t> </a:t>
            </a:r>
            <a:r>
              <a:rPr lang="fr-FR" dirty="0" err="1" smtClean="0"/>
              <a:t>shaping</a:t>
            </a:r>
            <a:r>
              <a:rPr lang="fr-FR" dirty="0" smtClean="0"/>
              <a:t> galaxies and </a:t>
            </a:r>
            <a:r>
              <a:rPr lang="fr-FR" dirty="0" err="1" smtClean="0"/>
              <a:t>locating</a:t>
            </a:r>
            <a:r>
              <a:rPr lang="fr-FR" dirty="0" smtClean="0"/>
              <a:t> </a:t>
            </a:r>
            <a:r>
              <a:rPr lang="fr-FR" dirty="0" err="1" smtClean="0"/>
              <a:t>it</a:t>
            </a:r>
            <a:r>
              <a:rPr lang="fr-FR" dirty="0" smtClean="0"/>
              <a:t> </a:t>
            </a:r>
            <a:r>
              <a:rPr lang="fr-FR" dirty="0" err="1" smtClean="0"/>
              <a:t>is</a:t>
            </a:r>
            <a:r>
              <a:rPr lang="fr-FR" dirty="0" smtClean="0"/>
              <a:t> essential to </a:t>
            </a:r>
            <a:r>
              <a:rPr lang="fr-FR" dirty="0" err="1" smtClean="0"/>
              <a:t>understanding</a:t>
            </a:r>
            <a:r>
              <a:rPr lang="fr-FR" dirty="0" smtClean="0"/>
              <a:t> </a:t>
            </a:r>
            <a:r>
              <a:rPr lang="fr-FR" dirty="0" err="1" smtClean="0"/>
              <a:t>disk</a:t>
            </a:r>
            <a:r>
              <a:rPr lang="fr-FR" dirty="0" smtClean="0"/>
              <a:t> </a:t>
            </a:r>
            <a:r>
              <a:rPr lang="fr-FR" dirty="0" err="1" smtClean="0"/>
              <a:t>galaxy</a:t>
            </a:r>
            <a:r>
              <a:rPr lang="fr-FR" dirty="0" smtClean="0"/>
              <a:t> structure.</a:t>
            </a:r>
          </a:p>
          <a:p>
            <a:endParaRPr lang="fr-FR" dirty="0"/>
          </a:p>
          <a:p>
            <a:r>
              <a:rPr lang="fr-FR" dirty="0" smtClean="0"/>
              <a:t>The </a:t>
            </a:r>
            <a:r>
              <a:rPr lang="fr-FR" dirty="0"/>
              <a:t>``streaming phase-reversal" </a:t>
            </a:r>
            <a:r>
              <a:rPr lang="fr-FR" dirty="0" err="1"/>
              <a:t>method</a:t>
            </a:r>
            <a:r>
              <a:rPr lang="fr-FR" dirty="0"/>
              <a:t> (Font et al. </a:t>
            </a:r>
            <a:r>
              <a:rPr lang="fr-FR" dirty="0" smtClean="0"/>
              <a:t>2011, 2014a,b; </a:t>
            </a:r>
            <a:endParaRPr lang="fr-FR" dirty="0"/>
          </a:p>
          <a:p>
            <a:r>
              <a:rPr lang="en-US" dirty="0" smtClean="0"/>
              <a:t>Beckman et al. </a:t>
            </a:r>
            <a:r>
              <a:rPr lang="en-US" dirty="0"/>
              <a:t>2018) is a direct kinematic approach to </a:t>
            </a:r>
            <a:r>
              <a:rPr lang="en-US" dirty="0" smtClean="0"/>
              <a:t>locating </a:t>
            </a:r>
            <a:r>
              <a:rPr lang="en-US" dirty="0"/>
              <a:t>the radius </a:t>
            </a:r>
            <a:r>
              <a:rPr lang="en-US" dirty="0" smtClean="0"/>
              <a:t>of </a:t>
            </a:r>
            <a:r>
              <a:rPr lang="en-US" dirty="0" err="1" smtClean="0"/>
              <a:t>corotation</a:t>
            </a:r>
            <a:r>
              <a:rPr lang="en-US" dirty="0" smtClean="0"/>
              <a:t> </a:t>
            </a:r>
            <a:r>
              <a:rPr lang="en-US" dirty="0"/>
              <a:t>in any disk-shaped galaxy having a well-defined, and</a:t>
            </a:r>
          </a:p>
          <a:p>
            <a:r>
              <a:rPr lang="en-US" dirty="0"/>
              <a:t>well-sampled, velocity field. The method uses the residual velocity</a:t>
            </a:r>
          </a:p>
          <a:p>
            <a:r>
              <a:rPr lang="en-US" dirty="0"/>
              <a:t>field, and interprets any radius where these residuals systematically</a:t>
            </a:r>
          </a:p>
          <a:p>
            <a:r>
              <a:rPr lang="en-US" dirty="0"/>
              <a:t>change sign (reverse phase) as a CR </a:t>
            </a:r>
            <a:r>
              <a:rPr lang="en-US" dirty="0" smtClean="0"/>
              <a:t>radius (or in some cases the radius of other resonances; Font et al. 2014b).</a:t>
            </a:r>
            <a:endParaRPr lang="en-US" dirty="0"/>
          </a:p>
          <a:p>
            <a:endParaRPr lang="en-US" dirty="0" smtClean="0"/>
          </a:p>
          <a:p>
            <a:r>
              <a:rPr lang="en-US" dirty="0" smtClean="0"/>
              <a:t>In </a:t>
            </a:r>
            <a:r>
              <a:rPr lang="en-US" dirty="0"/>
              <a:t>contrast, the potential-density </a:t>
            </a:r>
            <a:r>
              <a:rPr lang="en-US" dirty="0" smtClean="0"/>
              <a:t>phase-shift method </a:t>
            </a:r>
            <a:r>
              <a:rPr lang="en-US" dirty="0"/>
              <a:t>(Zhang </a:t>
            </a:r>
            <a:r>
              <a:rPr lang="en-US" dirty="0" smtClean="0"/>
              <a:t>&amp; </a:t>
            </a:r>
            <a:r>
              <a:rPr lang="en-US" dirty="0"/>
              <a:t>Buta</a:t>
            </a:r>
          </a:p>
          <a:p>
            <a:r>
              <a:rPr lang="en-US" dirty="0"/>
              <a:t>2007) uses red or infrared images to </a:t>
            </a:r>
            <a:r>
              <a:rPr lang="en-US" dirty="0" smtClean="0"/>
              <a:t>infer stellar mass surface density distributions and gravitational potentials  to locate </a:t>
            </a:r>
            <a:r>
              <a:rPr lang="en-US" dirty="0"/>
              <a:t>CR radii, </a:t>
            </a:r>
            <a:r>
              <a:rPr lang="en-US" dirty="0" smtClean="0"/>
              <a:t>independent of knowledge </a:t>
            </a:r>
            <a:r>
              <a:rPr lang="en-US" dirty="0"/>
              <a:t>of kinematics.  The basis of the PDPS </a:t>
            </a:r>
            <a:r>
              <a:rPr lang="en-US" dirty="0" smtClean="0"/>
              <a:t>method is </a:t>
            </a:r>
            <a:r>
              <a:rPr lang="en-US" dirty="0"/>
              <a:t>that a </a:t>
            </a:r>
            <a:r>
              <a:rPr lang="en-US" dirty="0" smtClean="0"/>
              <a:t>stellar spiral </a:t>
            </a:r>
            <a:r>
              <a:rPr lang="en-US" dirty="0"/>
              <a:t>can interact with the basic state of a galaxy disk </a:t>
            </a:r>
            <a:r>
              <a:rPr lang="en-US" dirty="0" smtClean="0"/>
              <a:t>through collective </a:t>
            </a:r>
            <a:r>
              <a:rPr lang="en-US" dirty="0"/>
              <a:t>effects in the arms. The interaction is mediated by a </a:t>
            </a:r>
            <a:r>
              <a:rPr lang="en-US" dirty="0" smtClean="0"/>
              <a:t>phase-shift </a:t>
            </a:r>
            <a:r>
              <a:rPr lang="en-US" dirty="0"/>
              <a:t>between the potential and density </a:t>
            </a:r>
            <a:r>
              <a:rPr lang="en-US" dirty="0" smtClean="0"/>
              <a:t>spirals. </a:t>
            </a:r>
            <a:r>
              <a:rPr lang="en-US" dirty="0"/>
              <a:t>This </a:t>
            </a:r>
            <a:r>
              <a:rPr lang="en-US" dirty="0" smtClean="0"/>
              <a:t>phase-shift arises  from </a:t>
            </a:r>
            <a:r>
              <a:rPr lang="en-US" dirty="0"/>
              <a:t>the long-range nature of gravity, and is such that </a:t>
            </a:r>
            <a:r>
              <a:rPr lang="en-US" dirty="0" smtClean="0"/>
              <a:t>the density </a:t>
            </a:r>
            <a:r>
              <a:rPr lang="en-US" dirty="0"/>
              <a:t>spiral leads the potential spiral (positive </a:t>
            </a:r>
            <a:r>
              <a:rPr lang="en-US" dirty="0" smtClean="0"/>
              <a:t>phase-shift</a:t>
            </a:r>
            <a:r>
              <a:rPr lang="en-US" dirty="0"/>
              <a:t>) </a:t>
            </a:r>
            <a:r>
              <a:rPr lang="en-US" dirty="0" smtClean="0"/>
              <a:t>inside </a:t>
            </a:r>
            <a:r>
              <a:rPr lang="en-US" dirty="0" err="1" smtClean="0"/>
              <a:t>r</a:t>
            </a:r>
            <a:r>
              <a:rPr lang="en-US" baseline="-25000" dirty="0" err="1" smtClean="0"/>
              <a:t>CR</a:t>
            </a:r>
            <a:r>
              <a:rPr lang="en-US" dirty="0" smtClean="0"/>
              <a:t> </a:t>
            </a:r>
            <a:r>
              <a:rPr lang="en-US" dirty="0"/>
              <a:t>and lags the potential spiral (negative </a:t>
            </a:r>
            <a:r>
              <a:rPr lang="en-US" dirty="0" smtClean="0"/>
              <a:t>phase-shift</a:t>
            </a:r>
            <a:r>
              <a:rPr lang="en-US" dirty="0"/>
              <a:t>) </a:t>
            </a:r>
            <a:r>
              <a:rPr lang="en-US" dirty="0" smtClean="0"/>
              <a:t>outside </a:t>
            </a:r>
            <a:r>
              <a:rPr lang="en-US" dirty="0" err="1" smtClean="0"/>
              <a:t>r</a:t>
            </a:r>
            <a:r>
              <a:rPr lang="en-US" baseline="-25000" dirty="0" err="1" smtClean="0"/>
              <a:t>CR</a:t>
            </a:r>
            <a:r>
              <a:rPr lang="en-US" dirty="0" smtClean="0"/>
              <a:t> (Figure 1). </a:t>
            </a:r>
            <a:r>
              <a:rPr lang="en-US" dirty="0"/>
              <a:t>Any radius where the </a:t>
            </a:r>
            <a:r>
              <a:rPr lang="en-US" dirty="0" smtClean="0"/>
              <a:t>phase-shift </a:t>
            </a:r>
            <a:r>
              <a:rPr lang="en-US" dirty="0"/>
              <a:t>changes from positive </a:t>
            </a:r>
            <a:r>
              <a:rPr lang="en-US" dirty="0" smtClean="0"/>
              <a:t>to negative is considered  a CR </a:t>
            </a:r>
            <a:r>
              <a:rPr lang="en-US" dirty="0"/>
              <a:t>radius</a:t>
            </a:r>
            <a:r>
              <a:rPr lang="en-US" dirty="0" smtClean="0"/>
              <a:t>.</a:t>
            </a:r>
          </a:p>
          <a:p>
            <a:endParaRPr lang="en-US" dirty="0" smtClean="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Figure 1. Illustration showing the phase difference between a spiral-shaped surface mass density perturbation (Σ</a:t>
            </a:r>
            <a:r>
              <a:rPr lang="en-US" baseline="-25000" dirty="0" smtClean="0"/>
              <a:t>1</a:t>
            </a:r>
            <a:r>
              <a:rPr lang="en-US" dirty="0" smtClean="0"/>
              <a:t>) and its corresponding gravitational potential (</a:t>
            </a:r>
            <a:r>
              <a:rPr lang="en-US" i="1" dirty="0" smtClean="0"/>
              <a:t>V</a:t>
            </a:r>
            <a:r>
              <a:rPr lang="en-US" baseline="-25000" dirty="0" smtClean="0"/>
              <a:t>1</a:t>
            </a:r>
            <a:r>
              <a:rPr lang="en-US" dirty="0" smtClean="0"/>
              <a:t>). The difference changes sign  across the circle, which is the radius of </a:t>
            </a:r>
            <a:r>
              <a:rPr lang="en-US" dirty="0" err="1" smtClean="0"/>
              <a:t>corotation</a:t>
            </a:r>
            <a:r>
              <a:rPr lang="en-US" dirty="0" smtClean="0"/>
              <a:t>, </a:t>
            </a:r>
            <a:r>
              <a:rPr lang="en-US" dirty="0" err="1" smtClean="0"/>
              <a:t>r</a:t>
            </a:r>
            <a:r>
              <a:rPr lang="en-US" baseline="-25000" dirty="0" err="1" smtClean="0"/>
              <a:t>CR</a:t>
            </a:r>
            <a:r>
              <a:rPr lang="en-US" dirty="0"/>
              <a:t> </a:t>
            </a:r>
            <a:r>
              <a:rPr lang="en-US" dirty="0" smtClean="0"/>
              <a:t>(Zhang 1996).</a:t>
            </a:r>
            <a:endParaRPr lang="en-US" dirty="0"/>
          </a:p>
          <a:p>
            <a:endParaRPr lang="en-US" dirty="0"/>
          </a:p>
          <a:p>
            <a:r>
              <a:rPr lang="en-US" dirty="0" smtClean="0"/>
              <a:t>Our objectives are to examine:</a:t>
            </a:r>
          </a:p>
          <a:p>
            <a:endParaRPr lang="en-US" dirty="0"/>
          </a:p>
          <a:p>
            <a:r>
              <a:rPr lang="en-US" dirty="0" smtClean="0"/>
              <a:t>- how </a:t>
            </a:r>
            <a:r>
              <a:rPr lang="en-US" dirty="0"/>
              <a:t>well the PDPS and SPR methods agree with each other</a:t>
            </a:r>
          </a:p>
          <a:p>
            <a:r>
              <a:rPr lang="en-US" dirty="0" smtClean="0"/>
              <a:t>-</a:t>
            </a:r>
            <a:r>
              <a:rPr lang="en-US" dirty="0"/>
              <a:t> </a:t>
            </a:r>
            <a:r>
              <a:rPr lang="en-US" dirty="0" smtClean="0"/>
              <a:t>how </a:t>
            </a:r>
            <a:r>
              <a:rPr lang="en-US" dirty="0"/>
              <a:t>effectively noise in the phase shifts can be </a:t>
            </a:r>
            <a:r>
              <a:rPr lang="en-US" dirty="0" smtClean="0"/>
              <a:t>reduced</a:t>
            </a:r>
          </a:p>
        </p:txBody>
      </p:sp>
      <p:sp>
        <p:nvSpPr>
          <p:cNvPr id="16" name="Text Placeholder 15"/>
          <p:cNvSpPr>
            <a:spLocks noGrp="1"/>
          </p:cNvSpPr>
          <p:nvPr>
            <p:ph type="body" sz="quarter" idx="150"/>
          </p:nvPr>
        </p:nvSpPr>
        <p:spPr/>
        <p:txBody>
          <a:bodyPr/>
          <a:lstStyle/>
          <a:p>
            <a:r>
              <a:rPr lang="en-US" dirty="0" smtClean="0"/>
              <a:t>University of Alabama and George Mason University</a:t>
            </a:r>
            <a:endParaRPr lang="en-US" dirty="0"/>
          </a:p>
        </p:txBody>
      </p:sp>
      <p:sp>
        <p:nvSpPr>
          <p:cNvPr id="17" name="Text Placeholder 16"/>
          <p:cNvSpPr>
            <a:spLocks noGrp="1"/>
          </p:cNvSpPr>
          <p:nvPr>
            <p:ph type="body" sz="quarter" idx="151"/>
          </p:nvPr>
        </p:nvSpPr>
        <p:spPr/>
        <p:txBody>
          <a:bodyPr>
            <a:normAutofit fontScale="92500" lnSpcReduction="10000"/>
          </a:bodyPr>
          <a:lstStyle/>
          <a:p>
            <a:r>
              <a:rPr lang="en-US" dirty="0" smtClean="0"/>
              <a:t>R. Buta &amp; X. Zhang</a:t>
            </a:r>
            <a:endParaRPr lang="en-US" dirty="0"/>
          </a:p>
        </p:txBody>
      </p:sp>
      <p:sp>
        <p:nvSpPr>
          <p:cNvPr id="18" name="Text Placeholder 17"/>
          <p:cNvSpPr>
            <a:spLocks noGrp="1"/>
          </p:cNvSpPr>
          <p:nvPr>
            <p:ph type="body" sz="quarter" idx="153"/>
          </p:nvPr>
        </p:nvSpPr>
        <p:spPr/>
        <p:txBody>
          <a:bodyPr>
            <a:normAutofit fontScale="92500" lnSpcReduction="10000"/>
          </a:bodyPr>
          <a:lstStyle/>
          <a:p>
            <a:r>
              <a:rPr lang="en-US" dirty="0" smtClean="0"/>
              <a:t>Comparison of </a:t>
            </a:r>
            <a:r>
              <a:rPr lang="en-US" dirty="0" err="1" smtClean="0"/>
              <a:t>Corotation</a:t>
            </a:r>
            <a:r>
              <a:rPr lang="en-US" dirty="0" smtClean="0"/>
              <a:t> Radius Estimates</a:t>
            </a:r>
            <a:endParaRPr lang="en-US" dirty="0"/>
          </a:p>
        </p:txBody>
      </p:sp>
      <p:pic>
        <p:nvPicPr>
          <p:cNvPr id="19" name="Picture 18" descr="phi0.jp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774842" y="28804389"/>
            <a:ext cx="9351424" cy="2641160"/>
          </a:xfrm>
          <a:prstGeom prst="rect">
            <a:avLst/>
          </a:prstGeom>
        </p:spPr>
      </p:pic>
      <p:pic>
        <p:nvPicPr>
          <p:cNvPr id="20" name="Picture 19" descr="figure1.jp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619135" y="9533169"/>
            <a:ext cx="7455408" cy="8558784"/>
          </a:xfrm>
          <a:prstGeom prst="rect">
            <a:avLst/>
          </a:prstGeom>
        </p:spPr>
      </p:pic>
      <p:pic>
        <p:nvPicPr>
          <p:cNvPr id="21" name="Picture 20" descr="ngc4303depg.jpg"/>
          <p:cNvPicPr>
            <a:picLocks noChangeAspect="1"/>
          </p:cNvPicPr>
          <p:nvPr/>
        </p:nvPicPr>
        <p:blipFill rotWithShape="1">
          <a:blip r:embed="rId5">
            <a:extLst>
              <a:ext uri="{28A0092B-C50C-407E-A947-70E740481C1C}">
                <a14:useLocalDpi xmlns:a14="http://schemas.microsoft.com/office/drawing/2010/main" val="0"/>
              </a:ext>
            </a:extLst>
          </a:blip>
          <a:srcRect l="7614" r="8440"/>
          <a:stretch/>
        </p:blipFill>
        <p:spPr>
          <a:xfrm>
            <a:off x="11460162" y="16597891"/>
            <a:ext cx="4756404" cy="4349280"/>
          </a:xfrm>
          <a:prstGeom prst="rect">
            <a:avLst/>
          </a:prstGeom>
        </p:spPr>
      </p:pic>
      <p:pic>
        <p:nvPicPr>
          <p:cNvPr id="22" name="Picture 21" descr="ngc4303massi.jpg"/>
          <p:cNvPicPr>
            <a:picLocks noChangeAspect="1"/>
          </p:cNvPicPr>
          <p:nvPr/>
        </p:nvPicPr>
        <p:blipFill rotWithShape="1">
          <a:blip r:embed="rId6">
            <a:extLst>
              <a:ext uri="{28A0092B-C50C-407E-A947-70E740481C1C}">
                <a14:useLocalDpi xmlns:a14="http://schemas.microsoft.com/office/drawing/2010/main" val="0"/>
              </a:ext>
            </a:extLst>
          </a:blip>
          <a:srcRect l="7929" r="8440"/>
          <a:stretch/>
        </p:blipFill>
        <p:spPr>
          <a:xfrm>
            <a:off x="16684544" y="21723318"/>
            <a:ext cx="4756404" cy="4365629"/>
          </a:xfrm>
          <a:prstGeom prst="rect">
            <a:avLst/>
          </a:prstGeom>
        </p:spPr>
      </p:pic>
      <p:pic>
        <p:nvPicPr>
          <p:cNvPr id="23" name="Picture 22" descr="ngc4303depgmi.jpg"/>
          <p:cNvPicPr>
            <a:picLocks noChangeAspect="1"/>
          </p:cNvPicPr>
          <p:nvPr/>
        </p:nvPicPr>
        <p:blipFill rotWithShape="1">
          <a:blip r:embed="rId7">
            <a:extLst>
              <a:ext uri="{28A0092B-C50C-407E-A947-70E740481C1C}">
                <a14:useLocalDpi xmlns:a14="http://schemas.microsoft.com/office/drawing/2010/main" val="0"/>
              </a:ext>
            </a:extLst>
          </a:blip>
          <a:srcRect l="7929" r="9070"/>
          <a:stretch/>
        </p:blipFill>
        <p:spPr>
          <a:xfrm>
            <a:off x="11460161" y="21723318"/>
            <a:ext cx="4702962" cy="4349280"/>
          </a:xfrm>
          <a:prstGeom prst="rect">
            <a:avLst/>
          </a:prstGeom>
        </p:spPr>
      </p:pic>
      <p:pic>
        <p:nvPicPr>
          <p:cNvPr id="24" name="Picture 23" descr="ngc4303depi.jpg"/>
          <p:cNvPicPr>
            <a:picLocks noChangeAspect="1"/>
          </p:cNvPicPr>
          <p:nvPr/>
        </p:nvPicPr>
        <p:blipFill rotWithShape="1">
          <a:blip r:embed="rId8">
            <a:extLst>
              <a:ext uri="{28A0092B-C50C-407E-A947-70E740481C1C}">
                <a14:useLocalDpi xmlns:a14="http://schemas.microsoft.com/office/drawing/2010/main" val="0"/>
              </a:ext>
            </a:extLst>
          </a:blip>
          <a:srcRect l="7300" r="8125"/>
          <a:stretch/>
        </p:blipFill>
        <p:spPr>
          <a:xfrm>
            <a:off x="16648914" y="16597891"/>
            <a:ext cx="4792034" cy="4349280"/>
          </a:xfrm>
          <a:prstGeom prst="rect">
            <a:avLst/>
          </a:prstGeom>
        </p:spPr>
      </p:pic>
      <p:pic>
        <p:nvPicPr>
          <p:cNvPr id="25" name="Picture 1" descr="phaseshift_schematic.ps"/>
          <p:cNvPicPr>
            <a:picLocks noChangeAspect="1"/>
          </p:cNvPicPr>
          <p:nvPr/>
        </p:nvPicPr>
        <p:blipFill>
          <a:blip r:embed="rId9">
            <a:extLst>
              <a:ext uri="{28A0092B-C50C-407E-A947-70E740481C1C}">
                <a14:useLocalDpi xmlns:a14="http://schemas.microsoft.com/office/drawing/2010/main" val="0"/>
              </a:ext>
            </a:extLst>
          </a:blip>
          <a:srcRect r="12556"/>
          <a:stretch>
            <a:fillRect/>
          </a:stretch>
        </p:blipFill>
        <p:spPr bwMode="auto">
          <a:xfrm>
            <a:off x="3573568" y="23944593"/>
            <a:ext cx="2812622" cy="3588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TextBox 25"/>
          <p:cNvSpPr txBox="1"/>
          <p:nvPr/>
        </p:nvSpPr>
        <p:spPr>
          <a:xfrm>
            <a:off x="11460161" y="20307546"/>
            <a:ext cx="9980786" cy="1415772"/>
          </a:xfrm>
          <a:prstGeom prst="rect">
            <a:avLst/>
          </a:prstGeom>
          <a:noFill/>
        </p:spPr>
        <p:txBody>
          <a:bodyPr wrap="square" rtlCol="0">
            <a:spAutoFit/>
          </a:bodyPr>
          <a:lstStyle/>
          <a:p>
            <a:r>
              <a:rPr lang="en-US" dirty="0" smtClean="0"/>
              <a:t>      </a:t>
            </a:r>
            <a:r>
              <a:rPr lang="en-US" sz="2800" i="1" dirty="0" smtClean="0"/>
              <a:t>g</a:t>
            </a:r>
            <a:r>
              <a:rPr lang="en-US" sz="2800" dirty="0" smtClean="0"/>
              <a:t>-band                                                         </a:t>
            </a:r>
            <a:r>
              <a:rPr lang="en-US" sz="2800" i="1" dirty="0" err="1" smtClean="0"/>
              <a:t>i</a:t>
            </a:r>
            <a:r>
              <a:rPr lang="en-US" sz="2800" dirty="0" smtClean="0"/>
              <a:t>-band</a:t>
            </a:r>
            <a:endParaRPr lang="en-US" sz="2800" dirty="0"/>
          </a:p>
        </p:txBody>
      </p:sp>
      <p:sp>
        <p:nvSpPr>
          <p:cNvPr id="27" name="TextBox 26"/>
          <p:cNvSpPr txBox="1"/>
          <p:nvPr/>
        </p:nvSpPr>
        <p:spPr>
          <a:xfrm>
            <a:off x="11460161" y="26115940"/>
            <a:ext cx="9980786" cy="523220"/>
          </a:xfrm>
          <a:prstGeom prst="rect">
            <a:avLst/>
          </a:prstGeom>
          <a:noFill/>
        </p:spPr>
        <p:txBody>
          <a:bodyPr wrap="square" rtlCol="0">
            <a:spAutoFit/>
          </a:bodyPr>
          <a:lstStyle/>
          <a:p>
            <a:r>
              <a:rPr lang="en-US" sz="2800" dirty="0" smtClean="0"/>
              <a:t>                      </a:t>
            </a:r>
            <a:r>
              <a:rPr lang="en-US" sz="2800" i="1" dirty="0" smtClean="0"/>
              <a:t>g – </a:t>
            </a:r>
            <a:r>
              <a:rPr lang="en-US" sz="2800" i="1" dirty="0" err="1" smtClean="0"/>
              <a:t>i</a:t>
            </a:r>
            <a:r>
              <a:rPr lang="en-US" sz="2800" i="1" dirty="0" smtClean="0"/>
              <a:t>                                                       </a:t>
            </a:r>
            <a:r>
              <a:rPr lang="en-US" sz="2800" dirty="0" smtClean="0"/>
              <a:t>Σ (</a:t>
            </a:r>
            <a:r>
              <a:rPr lang="en-US" sz="2800" dirty="0" err="1" smtClean="0"/>
              <a:t>M</a:t>
            </a:r>
            <a:r>
              <a:rPr lang="en-US" sz="2800" baseline="-25000" dirty="0" err="1" smtClean="0"/>
              <a:t>sun</a:t>
            </a:r>
            <a:r>
              <a:rPr lang="en-US" sz="2800" dirty="0" smtClean="0"/>
              <a:t> pc</a:t>
            </a:r>
            <a:r>
              <a:rPr lang="en-US" sz="2800" baseline="30000" dirty="0" smtClean="0"/>
              <a:t>–2</a:t>
            </a:r>
            <a:r>
              <a:rPr lang="en-US" sz="2800" dirty="0" smtClean="0"/>
              <a:t>) </a:t>
            </a:r>
            <a:r>
              <a:rPr lang="en-US" sz="2800" i="1" dirty="0" smtClean="0"/>
              <a:t>                                       </a:t>
            </a:r>
            <a:endParaRPr lang="en-US" sz="2800" i="1" dirty="0"/>
          </a:p>
        </p:txBody>
      </p:sp>
      <p:sp>
        <p:nvSpPr>
          <p:cNvPr id="28" name="TextBox 27"/>
          <p:cNvSpPr txBox="1"/>
          <p:nvPr/>
        </p:nvSpPr>
        <p:spPr>
          <a:xfrm>
            <a:off x="11460162" y="26639160"/>
            <a:ext cx="9980785" cy="830997"/>
          </a:xfrm>
          <a:prstGeom prst="rect">
            <a:avLst/>
          </a:prstGeom>
          <a:noFill/>
        </p:spPr>
        <p:txBody>
          <a:bodyPr wrap="square" rtlCol="0">
            <a:spAutoFit/>
          </a:bodyPr>
          <a:lstStyle/>
          <a:p>
            <a:r>
              <a:rPr lang="en-US" sz="2400" dirty="0" smtClean="0"/>
              <a:t>Figure 2: Images used for the application of the PDPS to NGC 4303. All have been </a:t>
            </a:r>
            <a:r>
              <a:rPr lang="en-US" sz="2400" dirty="0" err="1" smtClean="0"/>
              <a:t>deprojected</a:t>
            </a:r>
            <a:r>
              <a:rPr lang="en-US" sz="2400" dirty="0" smtClean="0"/>
              <a:t> according to ellipse fits to outer disk light.</a:t>
            </a:r>
            <a:endParaRPr lang="en-US" sz="2400" dirty="0"/>
          </a:p>
        </p:txBody>
      </p:sp>
      <p:sp>
        <p:nvSpPr>
          <p:cNvPr id="29" name="TextBox 28"/>
          <p:cNvSpPr txBox="1"/>
          <p:nvPr/>
        </p:nvSpPr>
        <p:spPr>
          <a:xfrm>
            <a:off x="11460162" y="27751423"/>
            <a:ext cx="10048875" cy="830997"/>
          </a:xfrm>
          <a:prstGeom prst="rect">
            <a:avLst/>
          </a:prstGeom>
          <a:noFill/>
        </p:spPr>
        <p:txBody>
          <a:bodyPr wrap="square" rtlCol="0">
            <a:spAutoFit/>
          </a:bodyPr>
          <a:lstStyle/>
          <a:p>
            <a:r>
              <a:rPr lang="en-US" sz="2400" dirty="0" smtClean="0"/>
              <a:t>The final step in the analysis is to calculate the phase-shift  as a function of radius. This is derived from the mass  map using (Zhang 1996):</a:t>
            </a:r>
            <a:endParaRPr lang="en-US" sz="2400" dirty="0"/>
          </a:p>
        </p:txBody>
      </p:sp>
      <p:sp>
        <p:nvSpPr>
          <p:cNvPr id="30" name="TextBox 29"/>
          <p:cNvSpPr txBox="1"/>
          <p:nvPr/>
        </p:nvSpPr>
        <p:spPr>
          <a:xfrm>
            <a:off x="22385343" y="18190338"/>
            <a:ext cx="10050461" cy="2015936"/>
          </a:xfrm>
          <a:prstGeom prst="rect">
            <a:avLst/>
          </a:prstGeom>
          <a:noFill/>
        </p:spPr>
        <p:txBody>
          <a:bodyPr wrap="square" rtlCol="0">
            <a:spAutoFit/>
          </a:bodyPr>
          <a:lstStyle/>
          <a:p>
            <a:r>
              <a:rPr lang="en-US" sz="2500" dirty="0" smtClean="0"/>
              <a:t>Figure 3: Phase-shifts as a function of </a:t>
            </a:r>
            <a:r>
              <a:rPr lang="en-US" sz="2500" dirty="0" err="1" smtClean="0"/>
              <a:t>galactocentric</a:t>
            </a:r>
            <a:r>
              <a:rPr lang="en-US" sz="2500" dirty="0" smtClean="0"/>
              <a:t> radius for the 6 galaxies in Table 1, based on mass  maps inferred from </a:t>
            </a:r>
            <a:r>
              <a:rPr lang="en-US" sz="2500" i="1" dirty="0" err="1" smtClean="0"/>
              <a:t>i</a:t>
            </a:r>
            <a:r>
              <a:rPr lang="en-US" sz="2500" dirty="0" smtClean="0"/>
              <a:t>-band images and </a:t>
            </a:r>
            <a:r>
              <a:rPr lang="en-US" sz="2500" i="1" dirty="0" smtClean="0"/>
              <a:t>g–</a:t>
            </a:r>
            <a:r>
              <a:rPr lang="en-US" sz="2500" i="1" dirty="0" err="1" smtClean="0"/>
              <a:t>i</a:t>
            </a:r>
            <a:r>
              <a:rPr lang="en-US" sz="2500" dirty="0" smtClean="0"/>
              <a:t>  color index maps. Any P/N crossing, no matter how slight, is indicated by a filled circle. The vertical lines show resonance radii and their error bars from the SPR method. </a:t>
            </a:r>
            <a:endParaRPr lang="en-US" sz="2500" dirty="0"/>
          </a:p>
        </p:txBody>
      </p:sp>
      <p:sp>
        <p:nvSpPr>
          <p:cNvPr id="31" name="TextBox 30"/>
          <p:cNvSpPr txBox="1"/>
          <p:nvPr/>
        </p:nvSpPr>
        <p:spPr>
          <a:xfrm>
            <a:off x="22385343" y="20574000"/>
            <a:ext cx="10048874" cy="5093702"/>
          </a:xfrm>
          <a:prstGeom prst="rect">
            <a:avLst/>
          </a:prstGeom>
          <a:noFill/>
        </p:spPr>
        <p:txBody>
          <a:bodyPr wrap="square" rtlCol="0">
            <a:spAutoFit/>
          </a:bodyPr>
          <a:lstStyle/>
          <a:p>
            <a:r>
              <a:rPr lang="en-US" sz="2500" dirty="0" smtClean="0"/>
              <a:t>While there are some clear agreements between the two methods, there are also some significant disagreements, as for the two outer resonance radii in NGC 3433 which do not coincide with any PDPS CR radii. Font  et al (2014b) show how some SPR-method phase reversal peaks are associated with other  resonances besides </a:t>
            </a:r>
            <a:r>
              <a:rPr lang="en-US" sz="2500" dirty="0" err="1" smtClean="0"/>
              <a:t>corotation</a:t>
            </a:r>
            <a:r>
              <a:rPr lang="en-US" sz="2500" dirty="0" smtClean="0"/>
              <a:t>, such as the inner and outer </a:t>
            </a:r>
            <a:r>
              <a:rPr lang="en-US" sz="2500" dirty="0" err="1" smtClean="0"/>
              <a:t>Lindblad</a:t>
            </a:r>
            <a:r>
              <a:rPr lang="en-US" sz="2500" dirty="0" smtClean="0"/>
              <a:t> and 4:1 resonances. Font et al. (2014b) found that most  SPR peaks are associated with CR radii.</a:t>
            </a:r>
          </a:p>
          <a:p>
            <a:endParaRPr lang="en-US" sz="2500" dirty="0"/>
          </a:p>
          <a:p>
            <a:r>
              <a:rPr lang="en-US" sz="2500" dirty="0" smtClean="0"/>
              <a:t>The issue of noise in the PDPS and the reliability of  outer P/N crossings as well as weak inner crossings can in part be dealt with using different combinations of images and color index </a:t>
            </a:r>
            <a:r>
              <a:rPr lang="en-US" sz="2500" dirty="0" smtClean="0"/>
              <a:t>maps</a:t>
            </a:r>
            <a:r>
              <a:rPr lang="en-US" sz="2500" dirty="0" smtClean="0"/>
              <a:t>. Figure </a:t>
            </a:r>
            <a:r>
              <a:rPr lang="en-US" sz="2500" dirty="0"/>
              <a:t>5</a:t>
            </a:r>
            <a:r>
              <a:rPr lang="en-US" sz="2500" dirty="0" smtClean="0"/>
              <a:t> shows a comparison between the phase-shifts  inferred from the </a:t>
            </a:r>
            <a:r>
              <a:rPr lang="en-US" sz="2500" i="1" dirty="0" err="1"/>
              <a:t>i</a:t>
            </a:r>
            <a:r>
              <a:rPr lang="en-US" sz="2500" dirty="0" smtClean="0"/>
              <a:t>-band mass map of NGC 4725 (Figure </a:t>
            </a:r>
            <a:r>
              <a:rPr lang="en-US" sz="2500" dirty="0"/>
              <a:t>4</a:t>
            </a:r>
            <a:r>
              <a:rPr lang="en-US" sz="2500" dirty="0" smtClean="0"/>
              <a:t>, right) and an </a:t>
            </a:r>
            <a:r>
              <a:rPr lang="en-US" sz="2500" i="1" dirty="0" smtClean="0"/>
              <a:t>r</a:t>
            </a:r>
            <a:r>
              <a:rPr lang="en-US" sz="2500" dirty="0" smtClean="0"/>
              <a:t>-band mass map (not shown).</a:t>
            </a:r>
            <a:endParaRPr lang="en-US" sz="2500" dirty="0"/>
          </a:p>
        </p:txBody>
      </p:sp>
      <p:pic>
        <p:nvPicPr>
          <p:cNvPr id="33" name="Picture 32" descr="ngc4725depg-circles.jpg"/>
          <p:cNvPicPr>
            <a:picLocks noChangeAspect="1"/>
          </p:cNvPicPr>
          <p:nvPr/>
        </p:nvPicPr>
        <p:blipFill rotWithShape="1">
          <a:blip r:embed="rId10">
            <a:extLst>
              <a:ext uri="{28A0092B-C50C-407E-A947-70E740481C1C}">
                <a14:useLocalDpi xmlns:a14="http://schemas.microsoft.com/office/drawing/2010/main" val="0"/>
              </a:ext>
            </a:extLst>
          </a:blip>
          <a:srcRect l="13287" t="2741" r="13543" b="2466"/>
          <a:stretch/>
        </p:blipFill>
        <p:spPr>
          <a:xfrm>
            <a:off x="22385343" y="25928295"/>
            <a:ext cx="4756403" cy="4729968"/>
          </a:xfrm>
          <a:prstGeom prst="rect">
            <a:avLst/>
          </a:prstGeom>
        </p:spPr>
      </p:pic>
      <p:sp>
        <p:nvSpPr>
          <p:cNvPr id="35" name="TextBox 34"/>
          <p:cNvSpPr txBox="1"/>
          <p:nvPr/>
        </p:nvSpPr>
        <p:spPr>
          <a:xfrm>
            <a:off x="22377404" y="30658263"/>
            <a:ext cx="10058400" cy="477054"/>
          </a:xfrm>
          <a:prstGeom prst="rect">
            <a:avLst/>
          </a:prstGeom>
          <a:noFill/>
        </p:spPr>
        <p:txBody>
          <a:bodyPr wrap="square" rtlCol="0">
            <a:spAutoFit/>
          </a:bodyPr>
          <a:lstStyle/>
          <a:p>
            <a:r>
              <a:rPr lang="en-US" sz="2500" dirty="0" smtClean="0"/>
              <a:t>                       </a:t>
            </a:r>
            <a:r>
              <a:rPr lang="en-US" sz="2500" i="1" dirty="0" smtClean="0"/>
              <a:t>g</a:t>
            </a:r>
            <a:r>
              <a:rPr lang="en-US" sz="2500" dirty="0" smtClean="0"/>
              <a:t>-band                                                       </a:t>
            </a:r>
            <a:r>
              <a:rPr lang="en-US" sz="2500" dirty="0" err="1" smtClean="0"/>
              <a:t>Σ</a:t>
            </a:r>
            <a:r>
              <a:rPr lang="en-US" sz="2500" dirty="0" smtClean="0"/>
              <a:t>(</a:t>
            </a:r>
            <a:r>
              <a:rPr lang="en-US" sz="2500" dirty="0" err="1" smtClean="0"/>
              <a:t>M</a:t>
            </a:r>
            <a:r>
              <a:rPr lang="en-US" sz="2500" baseline="-25000" dirty="0" err="1" smtClean="0"/>
              <a:t>sun</a:t>
            </a:r>
            <a:r>
              <a:rPr lang="en-US" sz="2500" dirty="0" smtClean="0"/>
              <a:t> pc </a:t>
            </a:r>
            <a:r>
              <a:rPr lang="en-US" sz="2500" baseline="30000" dirty="0" smtClean="0"/>
              <a:t>–2</a:t>
            </a:r>
            <a:r>
              <a:rPr lang="en-US" sz="2500" dirty="0" smtClean="0"/>
              <a:t> )</a:t>
            </a:r>
            <a:endParaRPr lang="en-US" sz="2500" dirty="0"/>
          </a:p>
        </p:txBody>
      </p:sp>
      <p:sp>
        <p:nvSpPr>
          <p:cNvPr id="36" name="TextBox 35"/>
          <p:cNvSpPr txBox="1"/>
          <p:nvPr/>
        </p:nvSpPr>
        <p:spPr>
          <a:xfrm>
            <a:off x="22385343" y="31116283"/>
            <a:ext cx="10050461" cy="861774"/>
          </a:xfrm>
          <a:prstGeom prst="rect">
            <a:avLst/>
          </a:prstGeom>
          <a:noFill/>
        </p:spPr>
        <p:txBody>
          <a:bodyPr wrap="square" rtlCol="0">
            <a:spAutoFit/>
          </a:bodyPr>
          <a:lstStyle/>
          <a:p>
            <a:r>
              <a:rPr lang="en-US" sz="2500" dirty="0" smtClean="0"/>
              <a:t>Figure 4: Optical and surface mass density images of NGC 4725. The red circles show the locations of two CR radii inferred from the PDPS method.</a:t>
            </a:r>
            <a:endParaRPr lang="en-US" sz="2500" dirty="0"/>
          </a:p>
        </p:txBody>
      </p:sp>
      <p:sp>
        <p:nvSpPr>
          <p:cNvPr id="38" name="TextBox 37"/>
          <p:cNvSpPr txBox="1"/>
          <p:nvPr/>
        </p:nvSpPr>
        <p:spPr>
          <a:xfrm>
            <a:off x="33378669" y="19758392"/>
            <a:ext cx="10041986" cy="1631216"/>
          </a:xfrm>
          <a:prstGeom prst="rect">
            <a:avLst/>
          </a:prstGeom>
          <a:noFill/>
        </p:spPr>
        <p:txBody>
          <a:bodyPr wrap="square" rtlCol="0">
            <a:spAutoFit/>
          </a:bodyPr>
          <a:lstStyle/>
          <a:p>
            <a:r>
              <a:rPr lang="en-US" sz="2500" dirty="0" smtClean="0"/>
              <a:t>Figure 5: Phase-shifts versus </a:t>
            </a:r>
            <a:r>
              <a:rPr lang="en-US" sz="2500" dirty="0" err="1" smtClean="0"/>
              <a:t>galactocentric</a:t>
            </a:r>
            <a:r>
              <a:rPr lang="en-US" sz="2500" dirty="0" smtClean="0"/>
              <a:t> radius for NGC 4725, comparing the results based on </a:t>
            </a:r>
            <a:r>
              <a:rPr lang="en-US" sz="2500" i="1" dirty="0" smtClean="0"/>
              <a:t>r</a:t>
            </a:r>
            <a:r>
              <a:rPr lang="en-US" sz="2500" dirty="0" smtClean="0"/>
              <a:t>-band and </a:t>
            </a:r>
            <a:r>
              <a:rPr lang="en-US" sz="2500" i="1" dirty="0" err="1" smtClean="0"/>
              <a:t>i</a:t>
            </a:r>
            <a:r>
              <a:rPr lang="en-US" sz="2500" dirty="0" smtClean="0"/>
              <a:t>-band mass surface density maps. The bar radius </a:t>
            </a:r>
            <a:r>
              <a:rPr lang="en-US" sz="2500" dirty="0" err="1" smtClean="0"/>
              <a:t>a</a:t>
            </a:r>
            <a:r>
              <a:rPr lang="en-US" sz="2500" baseline="-25000" dirty="0" err="1" smtClean="0"/>
              <a:t>bar</a:t>
            </a:r>
            <a:r>
              <a:rPr lang="en-US" sz="2500" dirty="0" smtClean="0"/>
              <a:t> is based on ellipse fits to the </a:t>
            </a:r>
            <a:r>
              <a:rPr lang="en-US" sz="2500" dirty="0" err="1" smtClean="0"/>
              <a:t>deprojected</a:t>
            </a:r>
            <a:r>
              <a:rPr lang="en-US" sz="2500" dirty="0" smtClean="0"/>
              <a:t> </a:t>
            </a:r>
            <a:r>
              <a:rPr lang="en-US" sz="2500" i="1" dirty="0" err="1" smtClean="0"/>
              <a:t>i</a:t>
            </a:r>
            <a:r>
              <a:rPr lang="en-US" sz="2500" dirty="0" smtClean="0"/>
              <a:t>-band bar. CR</a:t>
            </a:r>
            <a:r>
              <a:rPr lang="en-US" sz="2500" baseline="-25000" dirty="0" smtClean="0"/>
              <a:t>1</a:t>
            </a:r>
            <a:r>
              <a:rPr lang="en-US" sz="2500" dirty="0" smtClean="0"/>
              <a:t> and CR</a:t>
            </a:r>
            <a:r>
              <a:rPr lang="en-US" sz="2500" baseline="-25000" dirty="0" smtClean="0"/>
              <a:t>2</a:t>
            </a:r>
            <a:r>
              <a:rPr lang="en-US" sz="2500" dirty="0" smtClean="0"/>
              <a:t> refer to two modes related to the bar and inner spiral  plus ring.</a:t>
            </a:r>
            <a:endParaRPr lang="en-US" sz="2500" dirty="0"/>
          </a:p>
        </p:txBody>
      </p:sp>
      <p:pic>
        <p:nvPicPr>
          <p:cNvPr id="39" name="Picture 38" descr="rpsn4725.jp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753827" y="10977410"/>
            <a:ext cx="7388352" cy="8513064"/>
          </a:xfrm>
          <a:prstGeom prst="rect">
            <a:avLst/>
          </a:prstGeom>
        </p:spPr>
      </p:pic>
      <p:pic>
        <p:nvPicPr>
          <p:cNvPr id="40" name="Picture 39" descr="ngc4725massi-circles.jpg"/>
          <p:cNvPicPr>
            <a:picLocks noChangeAspect="1"/>
          </p:cNvPicPr>
          <p:nvPr/>
        </p:nvPicPr>
        <p:blipFill rotWithShape="1">
          <a:blip r:embed="rId12">
            <a:extLst>
              <a:ext uri="{28A0092B-C50C-407E-A947-70E740481C1C}">
                <a14:useLocalDpi xmlns:a14="http://schemas.microsoft.com/office/drawing/2010/main" val="0"/>
              </a:ext>
            </a:extLst>
          </a:blip>
          <a:srcRect l="12406" t="2741" r="11018" b="2466"/>
          <a:stretch/>
        </p:blipFill>
        <p:spPr>
          <a:xfrm>
            <a:off x="27517045" y="25964558"/>
            <a:ext cx="4917171" cy="4672396"/>
          </a:xfrm>
          <a:prstGeom prst="rect">
            <a:avLst/>
          </a:prstGeom>
        </p:spPr>
      </p:pic>
    </p:spTree>
    <p:extLst>
      <p:ext uri="{BB962C8B-B14F-4D97-AF65-F5344CB8AC3E}">
        <p14:creationId xmlns:p14="http://schemas.microsoft.com/office/powerpoint/2010/main" val="3160527046"/>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1158</TotalTime>
  <Words>2071</Words>
  <Application>Microsoft Macintosh PowerPoint</Application>
  <PresentationFormat>Custom</PresentationFormat>
  <Paragraphs>78</Paragraphs>
  <Slides>1</Slides>
  <Notes>0</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5" baseType="lpstr">
      <vt:lpstr>36x48-Template-V2b</vt:lpstr>
      <vt:lpstr>1_Classic 3 Columns</vt:lpstr>
      <vt:lpstr>Classic - Wide Center</vt:lpstr>
      <vt:lpstr>Image</vt:lpstr>
      <vt:lpstr>PowerPoint Presentation</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Ronald Buta</cp:lastModifiedBy>
  <cp:revision>116</cp:revision>
  <dcterms:created xsi:type="dcterms:W3CDTF">2012-02-03T19:11:35Z</dcterms:created>
  <dcterms:modified xsi:type="dcterms:W3CDTF">2018-07-11T17:46:32Z</dcterms:modified>
</cp:coreProperties>
</file>